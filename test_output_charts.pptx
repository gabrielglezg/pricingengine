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/>
        <c:ser>
          <c:idx val="0"/>
          <c:order val="0"/>
          <c:tx>
            <c:strRef>
              <c:f>Sheet1!$B$1</c:f>
              <c:strCache>
                <c:ptCount val="1"/>
                <c:pt idx="0">
                  <c:v>Count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SUV</c:v>
                </c:pt>
                <c:pt idx="1">
                  <c:v>Sedan</c:v>
                </c:pt>
                <c:pt idx="2">
                  <c:v>Hatchback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5.0</c:v>
                </c:pt>
                <c:pt idx="1">
                  <c:v>3.0</c:v>
                </c:pt>
                <c:pt idx="2">
                  <c:v>4.0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numFmt formatCode="0" sourceLinked="0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>
              <a:latin typeface="Avenir Medium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Min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SUV</c:v>
                </c:pt>
                <c:pt idx="1">
                  <c:v>Sedan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15000000.0</c:v>
                </c:pt>
                <c:pt idx="1">
                  <c:v>10000000.0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Avg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SUV</c:v>
                </c:pt>
                <c:pt idx="1">
                  <c:v>Sedan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20000000.0</c:v>
                </c:pt>
                <c:pt idx="1">
                  <c:v>12000000.0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Max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SUV</c:v>
                </c:pt>
                <c:pt idx="1">
                  <c:v>Sedan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25000000.0</c:v>
                </c:pt>
                <c:pt idx="1">
                  <c:v>15000000.0</c:v>
                </c:pt>
              </c:numCache>
            </c:numRef>
          </c:val>
        </c:ser>
        <c:dLbls>
          <c:numFmt formatCode="&quot;$&quot; #,##0" sourceLinked="0"/>
          <c:txPr>
            <a:bodyPr rot="-5400000" vert="horz"/>
            <a:lstStyle/>
            <a:p>
              <a:pPr>
                <a:defRPr sz="800">
                  <a:solidFill>
                    <a:srgbClr val="FFFFFF"/>
                  </a:solidFill>
                  <a:latin typeface="Avenir Medium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numFmt formatCode="&quot;$&quot; #,##0" sourceLinked="0"/>
        <c:majorTickMark val="out"/>
        <c:minorTickMark val="none"/>
        <c:tickLblPos val="nextTo"/>
        <c:crossAx val="-2068027336"/>
        <c:crosses val="autoZero"/>
        <c:majorUnit val="5000000.0"/>
      </c:valAx>
    </c:plotArea>
    <c:legend>
      <c:legendPos val="b"/>
      <c:overlay val="0"/>
      <c:txPr>
        <a:bodyPr/>
        <a:lstStyle/>
        <a:p>
          <a:pPr>
            <a:defRPr sz="900">
              <a:latin typeface="Avenir Medium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Variation</c:v>
                </c:pt>
              </c:strCache>
            </c:strRef>
          </c:tx>
          <c:cat>
            <c:strRef>
              <c:f>Sheet1!$A$2:$A$2</c:f>
              <c:strCache>
                <c:ptCount val="1"/>
                <c:pt idx="0">
                  <c:v>Toyota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0.05</c:v>
                </c:pt>
              </c:numCache>
            </c:numRef>
          </c:val>
        </c:ser>
        <c:dLbls>
          <c:numFmt formatCode="&quot;$&quot; #,##0" sourceLinked="0"/>
          <c:txPr>
            <a:bodyPr rot="-5400000" vert="horz"/>
            <a:lstStyle/>
            <a:p>
              <a:pPr>
                <a:defRPr sz="800">
                  <a:solidFill>
                    <a:srgbClr val="FFFFFF"/>
                  </a:solidFill>
                  <a:latin typeface="Avenir Medium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numFmt formatCode="&quot;$&quot; #,##0" sourceLinked="0"/>
        <c:majorTickMark val="out"/>
        <c:minorTickMark val="none"/>
        <c:tickLblPos val="nextTo"/>
        <c:crossAx val="-2068027336"/>
        <c:crosses val="autoZero"/>
        <c:majorUnit val="5000000.0"/>
      </c:valAx>
    </c:plotArea>
    <c:legend>
      <c:legendPos val="b"/>
      <c:overlay val="0"/>
      <c:txPr>
        <a:bodyPr/>
        <a:lstStyle/>
        <a:p>
          <a:pPr>
            <a:defRPr sz="900">
              <a:latin typeface="Avenir Medium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Volvo</c:v>
                </c:pt>
              </c:strCache>
            </c:strRef>
          </c:tx>
          <c:spPr/>
          <c:marker>
            <c:symbol val="none"/>
          </c:marker>
          <c:cat>
            <c:strRef>
              <c:f>Sheet1!$A$2:$A$4</c:f>
              <c:strCache>
                <c:ptCount val="3"/>
                <c:pt idx="0">
                  <c:v>2023-01</c:v>
                </c:pt>
                <c:pt idx="1">
                  <c:v>2023-02</c:v>
                </c:pt>
                <c:pt idx="2">
                  <c:v>2023-03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</c:v>
                </c:pt>
                <c:pt idx="1">
                  <c:v>0.11</c:v>
                </c:pt>
                <c:pt idx="2">
                  <c:v>0.13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BMW</c:v>
                </c:pt>
              </c:strCache>
            </c:strRef>
          </c:tx>
          <c:spPr/>
          <c:marker>
            <c:symbol val="none"/>
          </c:marker>
          <c:cat>
            <c:strRef>
              <c:f>Sheet1!$A$2:$A$4</c:f>
              <c:strCache>
                <c:ptCount val="3"/>
                <c:pt idx="0">
                  <c:v>2023-01</c:v>
                </c:pt>
                <c:pt idx="1">
                  <c:v>2023-02</c:v>
                </c:pt>
                <c:pt idx="2">
                  <c:v>2023-03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0.12</c:v>
                </c:pt>
                <c:pt idx="1">
                  <c:v>0.1</c:v>
                </c:pt>
                <c:pt idx="2">
                  <c:v>0.09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low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numFmt formatCode="0.0%" sourceLinked="0"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>
              <a:latin typeface="Avenir Medium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Min</c:v>
                </c:pt>
              </c:strCache>
            </c:strRef>
          </c:tx>
          <c:spPr/>
          <c:marker>
            <c:symbol val="none"/>
          </c:marker>
          <c:cat>
            <c:strRef>
              <c:f>Sheet1!$A$2:$A$3</c:f>
              <c:strCache>
                <c:ptCount val="2"/>
                <c:pt idx="0">
                  <c:v>Toyota</c:v>
                </c:pt>
                <c:pt idx="1">
                  <c:v>Kia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10000000.0</c:v>
                </c:pt>
                <c:pt idx="1">
                  <c:v>9000000.0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Max</c:v>
                </c:pt>
              </c:strCache>
            </c:strRef>
          </c:tx>
          <c:spPr/>
          <c:marker>
            <c:symbol val="none"/>
          </c:marker>
          <c:cat>
            <c:strRef>
              <c:f>Sheet1!$A$2:$A$3</c:f>
              <c:strCache>
                <c:ptCount val="2"/>
                <c:pt idx="0">
                  <c:v>Toyota</c:v>
                </c:pt>
                <c:pt idx="1">
                  <c:v>Kia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20000000.0</c:v>
                </c:pt>
                <c:pt idx="1">
                  <c:v>18000000.0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>
              <a:latin typeface="Avenir Medium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84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1621631"/>
            <a:ext cx="5029200" cy="361473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56032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000000"/>
                </a:solidFill>
                <a:latin typeface="Avenir Black"/>
              </a:defRPr>
            </a:pPr>
            <a:r>
              <a:t>Reporte Completo Test</a:t>
            </a:r>
          </a:p>
          <a:p>
            <a:br/>
            <a:pPr algn="l">
              <a:defRPr sz="1600">
                <a:solidFill>
                  <a:srgbClr val="475569"/>
                </a:solidFill>
                <a:latin typeface="Avenir Medium"/>
              </a:defRPr>
            </a:pPr>
            <a:r>
              <a:t>Generado: 01/02/2026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1E293B"/>
                </a:solidFill>
                <a:latin typeface="Avenir Black"/>
              </a:rPr>
              <a:t>Resumen Ejecutivo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71600" y="1828800"/>
          <a:ext cx="6400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200400"/>
              </a:tblGrid>
              <a:tr h="365760"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Métrica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Valor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Total Modelos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Total Marcas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Precio Promedio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$ 25.000.000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Precio Mediano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$ 0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Precio Mínimo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$ 0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Precio Máximo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$ 0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Desviación Estándar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$ 0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Coef. Variación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Descuento Promedio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Composición de Versiones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188720"/>
          <a:ext cx="8229600" cy="5486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Composición de Versiones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Segment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Count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SUV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Sedan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Hatchback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Estructura de Precios por Segmento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188720"/>
          <a:ext cx="8229600" cy="5486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Estructura de Precios por Segmento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Segment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Min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Avg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Max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SUV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$ 15.000.000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$ 20.000.000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$ 25.000.000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Sedan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$ 10.000.000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$ 12.000.000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$ 15.000.000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Tendencia de Precios Global (% Acumulado)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188720"/>
          <a:ext cx="8229600" cy="5486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Tendencia de Precios Global (% Acumulado)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Brand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Variation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Toyota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5.0%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Evolución de Volatilidad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188720"/>
          <a:ext cx="8229600" cy="5486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Evolución de Volatilidad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Date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Volvo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BMW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2023-01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10.0%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12.0%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2023-02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11.0%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10.0%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2023-03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13.0%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9.0%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Benchmarking de Precios por Marca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188720"/>
          <a:ext cx="8229600" cy="5486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Benchmarking de Precios por Marca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Brand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Min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Max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Toyota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$ 10.000.000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$ 20.000.000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Kia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$ 9.000.000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$ 18.000.000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84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1621631"/>
            <a:ext cx="5029200" cy="361473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