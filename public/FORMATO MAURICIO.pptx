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7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5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DF4"/>
    <a:srgbClr val="D1D9E8"/>
    <a:srgbClr val="D0D8E8"/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E35193-4264-4EBA-9157-E2A44F2D4186}" v="1" dt="2026-01-28T17:17:02.077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1"/>
  </p:normalViewPr>
  <p:slideViewPr>
    <p:cSldViewPr snapToGrid="0" snapToObjects="1">
      <p:cViewPr varScale="1">
        <p:scale>
          <a:sx n="105" d="100"/>
          <a:sy n="105" d="100"/>
        </p:scale>
        <p:origin x="714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500251271171488E-2"/>
          <c:y val="4.5624084472450525E-2"/>
          <c:w val="0.93121086640563888"/>
          <c:h val="0.82623834826527531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Chevrolet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7296-D44C-B99C-FABAC8F04DE2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49-7D43-94DF-E90AC4BD98AC}"/>
              </c:ext>
            </c:extLst>
          </c:dPt>
          <c:dPt>
            <c:idx val="2"/>
            <c:invertIfNegative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549-7D43-94DF-E90AC4BD98AC}"/>
              </c:ext>
            </c:extLst>
          </c:dPt>
          <c:dPt>
            <c:idx val="3"/>
            <c:invertIfNegative val="1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549-7D43-94DF-E90AC4BD98AC}"/>
              </c:ext>
            </c:extLst>
          </c:dPt>
          <c:dPt>
            <c:idx val="4"/>
            <c:invertIfNegative val="1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549-7D43-94DF-E90AC4BD98AC}"/>
              </c:ext>
            </c:extLst>
          </c:dPt>
          <c:cat>
            <c:strRef>
              <c:f>Sheet1!$A$2:$A$6</c:f>
              <c:strCache>
                <c:ptCount val="5"/>
                <c:pt idx="0">
                  <c:v>Coupé</c:v>
                </c:pt>
                <c:pt idx="1">
                  <c:v>Hatchback</c:v>
                </c:pt>
                <c:pt idx="2">
                  <c:v>Minivan</c:v>
                </c:pt>
                <c:pt idx="3">
                  <c:v>Pick up</c:v>
                </c:pt>
                <c:pt idx="4">
                  <c:v>SUV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5A-4F36-98B6-3D4FE691C9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s-CL"/>
          </a:p>
        </c:txPr>
        <c:crossAx val="-2068027336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 b="0" i="0">
          <a:latin typeface="Avenir Book" panose="02000503020000020003" pitchFamily="2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621864805931427"/>
          <c:y val="4.5624084472450525E-2"/>
          <c:w val="0.87049246961749616"/>
          <c:h val="0.7491874148793912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Mínimo</c:v>
                </c:pt>
              </c:strCache>
            </c:strRef>
          </c:tx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-5400000" vert="horz"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SUV</c:v>
                </c:pt>
                <c:pt idx="1">
                  <c:v>Pick up</c:v>
                </c:pt>
                <c:pt idx="2">
                  <c:v>Hatchback</c:v>
                </c:pt>
                <c:pt idx="3">
                  <c:v>Coupé</c:v>
                </c:pt>
                <c:pt idx="4">
                  <c:v>Minivan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17840000</c:v>
                </c:pt>
                <c:pt idx="1">
                  <c:v>42460000</c:v>
                </c:pt>
                <c:pt idx="2">
                  <c:v>12400000</c:v>
                </c:pt>
                <c:pt idx="3">
                  <c:v>45270000</c:v>
                </c:pt>
                <c:pt idx="4">
                  <c:v>14440000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2B-49E0-9760-A716B7EA47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Promedio</c:v>
                </c:pt>
              </c:strCache>
            </c:strRef>
          </c:tx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-5400000" vert="horz"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SUV</c:v>
                </c:pt>
                <c:pt idx="1">
                  <c:v>Pick up</c:v>
                </c:pt>
                <c:pt idx="2">
                  <c:v>Hatchback</c:v>
                </c:pt>
                <c:pt idx="3">
                  <c:v>Coupé</c:v>
                </c:pt>
                <c:pt idx="4">
                  <c:v>Minivan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18246666.666666668</c:v>
                </c:pt>
                <c:pt idx="1">
                  <c:v>43343333.333333336</c:v>
                </c:pt>
                <c:pt idx="2">
                  <c:v>13125000</c:v>
                </c:pt>
                <c:pt idx="3">
                  <c:v>46026666.666666664</c:v>
                </c:pt>
                <c:pt idx="4">
                  <c:v>14745000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2B-49E0-9760-A716B7EA47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Máximo</c:v>
                </c:pt>
              </c:strCache>
            </c:strRef>
          </c:tx>
          <c:invertIfNegative val="1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-5400000" vert="horz"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SUV</c:v>
                </c:pt>
                <c:pt idx="1">
                  <c:v>Pick up</c:v>
                </c:pt>
                <c:pt idx="2">
                  <c:v>Hatchback</c:v>
                </c:pt>
                <c:pt idx="3">
                  <c:v>Coupé</c:v>
                </c:pt>
                <c:pt idx="4">
                  <c:v>Minivan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18940000</c:v>
                </c:pt>
                <c:pt idx="1">
                  <c:v>44600000</c:v>
                </c:pt>
                <c:pt idx="2">
                  <c:v>13650000</c:v>
                </c:pt>
                <c:pt idx="3">
                  <c:v>46820000</c:v>
                </c:pt>
                <c:pt idx="4">
                  <c:v>15050000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2B-49E0-9760-A716B7EA47C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Cant. Versiones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SUV</c:v>
                </c:pt>
                <c:pt idx="1">
                  <c:v>Pick up</c:v>
                </c:pt>
                <c:pt idx="2">
                  <c:v>Hatchback</c:v>
                </c:pt>
                <c:pt idx="3">
                  <c:v>Coupé</c:v>
                </c:pt>
                <c:pt idx="4">
                  <c:v>Minivan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2B-49E0-9760-A716B7EA47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s-CL"/>
          </a:p>
        </c:txPr>
        <c:crossAx val="-2068027336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1200"/>
          </a:pPr>
          <a:endParaRPr lang="es-CL"/>
        </a:p>
      </c:txPr>
    </c:legend>
    <c:plotVisOnly val="1"/>
    <c:dispBlanksAs val="gap"/>
    <c:showDLblsOverMax val="1"/>
  </c:chart>
  <c:txPr>
    <a:bodyPr/>
    <a:lstStyle/>
    <a:p>
      <a:pPr>
        <a:defRPr sz="1800" b="0" i="0">
          <a:latin typeface="Avenir Light" panose="020B0402020203020204" pitchFamily="34" charset="77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157310687885628"/>
          <c:y val="4.5624084472450525E-2"/>
          <c:w val="0.87842689312114375"/>
          <c:h val="0.65508528295713797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Precio Promedio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Coupé - Chevrolet</c:v>
                </c:pt>
                <c:pt idx="1">
                  <c:v>Hatchback - Chevrolet</c:v>
                </c:pt>
                <c:pt idx="2">
                  <c:v>Minivan - Chevrolet</c:v>
                </c:pt>
                <c:pt idx="3">
                  <c:v>Pick up - Chevrolet</c:v>
                </c:pt>
                <c:pt idx="4">
                  <c:v>SUV - Chevrolet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46026666.666666664</c:v>
                </c:pt>
                <c:pt idx="1">
                  <c:v>13125000</c:v>
                </c:pt>
                <c:pt idx="2">
                  <c:v>14745000</c:v>
                </c:pt>
                <c:pt idx="3">
                  <c:v>43343333.333333336</c:v>
                </c:pt>
                <c:pt idx="4">
                  <c:v>18246666.666666668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35-47DA-8C8B-280F21DAD1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Versiones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Coupé - Chevrolet</c:v>
                </c:pt>
                <c:pt idx="1">
                  <c:v>Hatchback - Chevrolet</c:v>
                </c:pt>
                <c:pt idx="2">
                  <c:v>Minivan - Chevrolet</c:v>
                </c:pt>
                <c:pt idx="3">
                  <c:v>Pick up - Chevrolet</c:v>
                </c:pt>
                <c:pt idx="4">
                  <c:v>SUV - Chevrolet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35-47DA-8C8B-280F21DAD1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s-CL"/>
          </a:p>
        </c:txPr>
        <c:crossAx val="-2068027336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1200"/>
          </a:pPr>
          <a:endParaRPr lang="es-CL"/>
        </a:p>
      </c:txPr>
    </c:legend>
    <c:plotVisOnly val="1"/>
    <c:dispBlanksAs val="gap"/>
    <c:showDLblsOverMax val="1"/>
  </c:chart>
  <c:txPr>
    <a:bodyPr/>
    <a:lstStyle/>
    <a:p>
      <a:pPr>
        <a:defRPr sz="1800" b="0" i="0">
          <a:latin typeface="Avenir Light" panose="020B0402020203020204" pitchFamily="34" charset="77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Modelos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13125000</c:v>
                </c:pt>
                <c:pt idx="1">
                  <c:v>18246666.666666672</c:v>
                </c:pt>
                <c:pt idx="2">
                  <c:v>43343333.333333343</c:v>
                </c:pt>
                <c:pt idx="3">
                  <c:v>46026666.666666657</c:v>
                </c:pt>
                <c:pt idx="4">
                  <c:v>14745000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B49-43D1-B5F9-EE6A10225F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  <c:majorUnit val="1"/>
      </c:valAx>
      <c:valAx>
        <c:axId val="-2129643912"/>
        <c:scaling>
          <c:orientation val="minMax"/>
        </c:scaling>
        <c:delete val="0"/>
        <c:axPos val="l"/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s-CL"/>
          </a:p>
        </c:txPr>
        <c:crossAx val="-212894087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45910206212568683"/>
          <c:y val="0.93795703348738291"/>
          <c:w val="8.1795788092594218E-2"/>
          <c:h val="6.2042966512617231E-2"/>
        </c:manualLayout>
      </c:layout>
      <c:overlay val="0"/>
      <c:txPr>
        <a:bodyPr/>
        <a:lstStyle/>
        <a:p>
          <a:pPr>
            <a:defRPr sz="1200"/>
          </a:pPr>
          <a:endParaRPr lang="es-CL"/>
        </a:p>
      </c:txPr>
    </c:legend>
    <c:plotVisOnly val="1"/>
    <c:dispBlanksAs val="gap"/>
    <c:showDLblsOverMax val="0"/>
  </c:chart>
  <c:txPr>
    <a:bodyPr/>
    <a:lstStyle/>
    <a:p>
      <a:pPr>
        <a:defRPr sz="1800" b="0" i="0">
          <a:latin typeface="Avenir Light" panose="020B0402020203020204" pitchFamily="34" charset="77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Precio Promedio</c:v>
                </c:pt>
              </c:strCache>
            </c:strRef>
          </c:tx>
          <c:marker>
            <c:symbol val="none"/>
          </c:marker>
          <c:cat>
            <c:strRef>
              <c:f>Sheet1!$A$2:$A$2</c:f>
              <c:strCache>
                <c:ptCount val="1"/>
                <c:pt idx="0">
                  <c:v>Chevrolet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26989333.333333332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17-4570-B63B-BE1CA9835E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Precio Mínimo</c:v>
                </c:pt>
              </c:strCache>
            </c:strRef>
          </c:tx>
          <c:marker>
            <c:symbol val="none"/>
          </c:marker>
          <c:cat>
            <c:strRef>
              <c:f>Sheet1!$A$2:$A$2</c:f>
              <c:strCache>
                <c:ptCount val="1"/>
                <c:pt idx="0">
                  <c:v>Chevrolet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12400000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17-4570-B63B-BE1CA9835E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Precio Máximo</c:v>
                </c:pt>
              </c:strCache>
            </c:strRef>
          </c:tx>
          <c:marker>
            <c:symbol val="none"/>
          </c:marker>
          <c:cat>
            <c:strRef>
              <c:f>Sheet1!$A$2:$A$2</c:f>
              <c:strCache>
                <c:ptCount val="1"/>
                <c:pt idx="0">
                  <c:v>Chevrolet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46820000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817-4570-B63B-BE1CA9835EF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Versiones</c:v>
                </c:pt>
              </c:strCache>
            </c:strRef>
          </c:tx>
          <c:marker>
            <c:symbol val="none"/>
          </c:marker>
          <c:cat>
            <c:strRef>
              <c:f>Sheet1!$A$2:$A$2</c:f>
              <c:strCache>
                <c:ptCount val="1"/>
                <c:pt idx="0">
                  <c:v>Chevrolet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817-4570-B63B-BE1CA9835E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s-CL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s-CL"/>
        </a:p>
      </c:txPr>
    </c:legend>
    <c:plotVisOnly val="1"/>
    <c:dispBlanksAs val="gap"/>
    <c:showDLblsOverMax val="0"/>
  </c:chart>
  <c:txPr>
    <a:bodyPr/>
    <a:lstStyle/>
    <a:p>
      <a:pPr>
        <a:defRPr sz="1800" b="0" i="0">
          <a:latin typeface="Avenir Light" panose="020B0402020203020204" pitchFamily="34" charset="77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2156773234878282E-2"/>
          <c:y val="4.5624084472450525E-2"/>
          <c:w val="0.92455434444193207"/>
          <c:h val="0.7801572527600222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Variación %</c:v>
                </c:pt>
              </c:strCache>
            </c:strRef>
          </c:tx>
          <c:spPr>
            <a:solidFill>
              <a:srgbClr val="FF0000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Chevrolet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-0.52132196162046907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98A-4D58-A704-CAD24E059E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Inicio</c:v>
                </c:pt>
              </c:strCache>
            </c:strRef>
          </c:tx>
          <c:invertIfNegative val="1"/>
          <c:cat>
            <c:strRef>
              <c:f>Sheet1!$A$2:$A$2</c:f>
              <c:strCache>
                <c:ptCount val="1"/>
                <c:pt idx="0">
                  <c:v>Chevrolet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8A-4D58-A704-CAD24E059E8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</c:v>
                </c:pt>
              </c:strCache>
            </c:strRef>
          </c:tx>
          <c:invertIfNegative val="1"/>
          <c:cat>
            <c:strRef>
              <c:f>Sheet1!$A$2:$A$2</c:f>
              <c:strCache>
                <c:ptCount val="1"/>
                <c:pt idx="0">
                  <c:v>Chevrolet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8A-4D58-A704-CAD24E059E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0.0%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s-CL"/>
          </a:p>
        </c:txPr>
        <c:crossAx val="-2068027336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1200"/>
          </a:pPr>
          <a:endParaRPr lang="es-CL"/>
        </a:p>
      </c:txPr>
    </c:legend>
    <c:plotVisOnly val="1"/>
    <c:dispBlanksAs val="gap"/>
    <c:showDLblsOverMax val="1"/>
  </c:chart>
  <c:txPr>
    <a:bodyPr/>
    <a:lstStyle/>
    <a:p>
      <a:pPr>
        <a:defRPr sz="1800" b="0" i="0">
          <a:latin typeface="Avenir Light" panose="020B0402020203020204" pitchFamily="34" charset="77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8.87225522035716E-2"/>
          <c:y val="4.4091029808420813E-2"/>
          <c:w val="0.8979885654732388"/>
          <c:h val="0.5444457497772550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Chevrolet - Spin</c:v>
                </c:pt>
              </c:strCache>
            </c:strRef>
          </c:tx>
          <c:marker>
            <c:symbol val="none"/>
          </c:marker>
          <c:cat>
            <c:strRef>
              <c:f>Sheet1!$A$2:$A$34</c:f>
              <c:strCache>
                <c:ptCount val="33"/>
                <c:pt idx="0">
                  <c:v>2023-02</c:v>
                </c:pt>
                <c:pt idx="1">
                  <c:v>2023-03</c:v>
                </c:pt>
                <c:pt idx="2">
                  <c:v>2023-04</c:v>
                </c:pt>
                <c:pt idx="3">
                  <c:v>2023-06</c:v>
                </c:pt>
                <c:pt idx="4">
                  <c:v>2023-07</c:v>
                </c:pt>
                <c:pt idx="5">
                  <c:v>2023-08</c:v>
                </c:pt>
                <c:pt idx="6">
                  <c:v>2023-09</c:v>
                </c:pt>
                <c:pt idx="7">
                  <c:v>2023-10</c:v>
                </c:pt>
                <c:pt idx="8">
                  <c:v>2023-11</c:v>
                </c:pt>
                <c:pt idx="9">
                  <c:v>2023-12</c:v>
                </c:pt>
                <c:pt idx="10">
                  <c:v>2024-01</c:v>
                </c:pt>
                <c:pt idx="11">
                  <c:v>2024-02</c:v>
                </c:pt>
                <c:pt idx="12">
                  <c:v>2024-03</c:v>
                </c:pt>
                <c:pt idx="13">
                  <c:v>2024-04</c:v>
                </c:pt>
                <c:pt idx="14">
                  <c:v>2024-05</c:v>
                </c:pt>
                <c:pt idx="15">
                  <c:v>2024-06</c:v>
                </c:pt>
                <c:pt idx="16">
                  <c:v>2024-07</c:v>
                </c:pt>
                <c:pt idx="17">
                  <c:v>2024-08</c:v>
                </c:pt>
                <c:pt idx="18">
                  <c:v>2024-09</c:v>
                </c:pt>
                <c:pt idx="19">
                  <c:v>2024-10</c:v>
                </c:pt>
                <c:pt idx="20">
                  <c:v>2024-11</c:v>
                </c:pt>
                <c:pt idx="21">
                  <c:v>2024-12</c:v>
                </c:pt>
                <c:pt idx="22">
                  <c:v>2025-01</c:v>
                </c:pt>
                <c:pt idx="23">
                  <c:v>2025-02</c:v>
                </c:pt>
                <c:pt idx="24">
                  <c:v>2025-03</c:v>
                </c:pt>
                <c:pt idx="25">
                  <c:v>2025-04</c:v>
                </c:pt>
                <c:pt idx="26">
                  <c:v>2025-05</c:v>
                </c:pt>
                <c:pt idx="27">
                  <c:v>2025-06</c:v>
                </c:pt>
                <c:pt idx="28">
                  <c:v>2025-07</c:v>
                </c:pt>
                <c:pt idx="29">
                  <c:v>2025-09</c:v>
                </c:pt>
                <c:pt idx="30">
                  <c:v>2025-10</c:v>
                </c:pt>
                <c:pt idx="31">
                  <c:v>2025-11</c:v>
                </c:pt>
                <c:pt idx="32">
                  <c:v>2025-12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</c:v>
                </c:pt>
                <c:pt idx="1">
                  <c:v>9.8603839441535779E-2</c:v>
                </c:pt>
                <c:pt idx="2">
                  <c:v>0.12073073868149325</c:v>
                </c:pt>
                <c:pt idx="3">
                  <c:v>-4.9610205527994333E-2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0.11782252050708425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-0.11074049366244162</c:v>
                </c:pt>
                <c:pt idx="12">
                  <c:v>0</c:v>
                </c:pt>
                <c:pt idx="13">
                  <c:v>0.15453863465866466</c:v>
                </c:pt>
                <c:pt idx="14">
                  <c:v>-6.7143166558371284E-2</c:v>
                </c:pt>
                <c:pt idx="15">
                  <c:v>0</c:v>
                </c:pt>
                <c:pt idx="16">
                  <c:v>4.8990016252612074E-2</c:v>
                </c:pt>
                <c:pt idx="17">
                  <c:v>-8.9641434262948211E-2</c:v>
                </c:pt>
                <c:pt idx="18">
                  <c:v>9.4821298322392417E-2</c:v>
                </c:pt>
                <c:pt idx="19">
                  <c:v>4.5969353764157228E-2</c:v>
                </c:pt>
                <c:pt idx="20">
                  <c:v>-1.6560509554140127E-2</c:v>
                </c:pt>
                <c:pt idx="21">
                  <c:v>-4.0803108808290162E-2</c:v>
                </c:pt>
                <c:pt idx="22">
                  <c:v>6.75219446320054E-3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-1.6096579476861168E-2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5D7-4506-BD9B-2ECA7938E0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Chevrolet - Silverado</c:v>
                </c:pt>
              </c:strCache>
            </c:strRef>
          </c:tx>
          <c:marker>
            <c:symbol val="none"/>
          </c:marker>
          <c:cat>
            <c:strRef>
              <c:f>Sheet1!$A$2:$A$34</c:f>
              <c:strCache>
                <c:ptCount val="33"/>
                <c:pt idx="0">
                  <c:v>2023-02</c:v>
                </c:pt>
                <c:pt idx="1">
                  <c:v>2023-03</c:v>
                </c:pt>
                <c:pt idx="2">
                  <c:v>2023-04</c:v>
                </c:pt>
                <c:pt idx="3">
                  <c:v>2023-06</c:v>
                </c:pt>
                <c:pt idx="4">
                  <c:v>2023-07</c:v>
                </c:pt>
                <c:pt idx="5">
                  <c:v>2023-08</c:v>
                </c:pt>
                <c:pt idx="6">
                  <c:v>2023-09</c:v>
                </c:pt>
                <c:pt idx="7">
                  <c:v>2023-10</c:v>
                </c:pt>
                <c:pt idx="8">
                  <c:v>2023-11</c:v>
                </c:pt>
                <c:pt idx="9">
                  <c:v>2023-12</c:v>
                </c:pt>
                <c:pt idx="10">
                  <c:v>2024-01</c:v>
                </c:pt>
                <c:pt idx="11">
                  <c:v>2024-02</c:v>
                </c:pt>
                <c:pt idx="12">
                  <c:v>2024-03</c:v>
                </c:pt>
                <c:pt idx="13">
                  <c:v>2024-04</c:v>
                </c:pt>
                <c:pt idx="14">
                  <c:v>2024-05</c:v>
                </c:pt>
                <c:pt idx="15">
                  <c:v>2024-06</c:v>
                </c:pt>
                <c:pt idx="16">
                  <c:v>2024-07</c:v>
                </c:pt>
                <c:pt idx="17">
                  <c:v>2024-08</c:v>
                </c:pt>
                <c:pt idx="18">
                  <c:v>2024-09</c:v>
                </c:pt>
                <c:pt idx="19">
                  <c:v>2024-10</c:v>
                </c:pt>
                <c:pt idx="20">
                  <c:v>2024-11</c:v>
                </c:pt>
                <c:pt idx="21">
                  <c:v>2024-12</c:v>
                </c:pt>
                <c:pt idx="22">
                  <c:v>2025-01</c:v>
                </c:pt>
                <c:pt idx="23">
                  <c:v>2025-02</c:v>
                </c:pt>
                <c:pt idx="24">
                  <c:v>2025-03</c:v>
                </c:pt>
                <c:pt idx="25">
                  <c:v>2025-04</c:v>
                </c:pt>
                <c:pt idx="26">
                  <c:v>2025-05</c:v>
                </c:pt>
                <c:pt idx="27">
                  <c:v>2025-06</c:v>
                </c:pt>
                <c:pt idx="28">
                  <c:v>2025-07</c:v>
                </c:pt>
                <c:pt idx="29">
                  <c:v>2025-09</c:v>
                </c:pt>
                <c:pt idx="30">
                  <c:v>2025-10</c:v>
                </c:pt>
                <c:pt idx="31">
                  <c:v>2025-11</c:v>
                </c:pt>
                <c:pt idx="32">
                  <c:v>2025-12</c:v>
                </c:pt>
              </c:strCache>
            </c: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0</c:v>
                </c:pt>
                <c:pt idx="1">
                  <c:v>2.0708446866485014E-2</c:v>
                </c:pt>
                <c:pt idx="2">
                  <c:v>-6.7538707955152169E-2</c:v>
                </c:pt>
                <c:pt idx="3">
                  <c:v>0.13884912682507872</c:v>
                </c:pt>
                <c:pt idx="4">
                  <c:v>0</c:v>
                </c:pt>
                <c:pt idx="5">
                  <c:v>-0.102061337355455</c:v>
                </c:pt>
                <c:pt idx="6">
                  <c:v>0</c:v>
                </c:pt>
                <c:pt idx="7">
                  <c:v>0.13549832026875699</c:v>
                </c:pt>
                <c:pt idx="8">
                  <c:v>0</c:v>
                </c:pt>
                <c:pt idx="9">
                  <c:v>-7.174556213017752E-2</c:v>
                </c:pt>
                <c:pt idx="10">
                  <c:v>5.7768924302788835E-2</c:v>
                </c:pt>
                <c:pt idx="11">
                  <c:v>0</c:v>
                </c:pt>
                <c:pt idx="12">
                  <c:v>4.1305712492153167E-2</c:v>
                </c:pt>
                <c:pt idx="13">
                  <c:v>-4.7263081745840367E-2</c:v>
                </c:pt>
                <c:pt idx="14">
                  <c:v>0</c:v>
                </c:pt>
                <c:pt idx="15">
                  <c:v>6.5806125031637568E-3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-5.3055066633140552E-2</c:v>
                </c:pt>
                <c:pt idx="22">
                  <c:v>0.10214197203044779</c:v>
                </c:pt>
                <c:pt idx="23">
                  <c:v>0</c:v>
                </c:pt>
                <c:pt idx="24">
                  <c:v>3.8989720526823063E-2</c:v>
                </c:pt>
                <c:pt idx="25">
                  <c:v>-2.9681159420289857E-2</c:v>
                </c:pt>
                <c:pt idx="26">
                  <c:v>0</c:v>
                </c:pt>
                <c:pt idx="27">
                  <c:v>-4.64810610586689E-2</c:v>
                </c:pt>
                <c:pt idx="28">
                  <c:v>7.1428571428571426E-3</c:v>
                </c:pt>
                <c:pt idx="29">
                  <c:v>0.10389448799303222</c:v>
                </c:pt>
                <c:pt idx="30">
                  <c:v>-2.6375112714156899E-2</c:v>
                </c:pt>
                <c:pt idx="31">
                  <c:v>0</c:v>
                </c:pt>
                <c:pt idx="32">
                  <c:v>-1.0997916184301921E-2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5D7-4506-BD9B-2ECA7938E0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Chevrolet - Tracker</c:v>
                </c:pt>
              </c:strCache>
            </c:strRef>
          </c:tx>
          <c:marker>
            <c:symbol val="none"/>
          </c:marker>
          <c:cat>
            <c:strRef>
              <c:f>Sheet1!$A$2:$A$34</c:f>
              <c:strCache>
                <c:ptCount val="33"/>
                <c:pt idx="0">
                  <c:v>2023-02</c:v>
                </c:pt>
                <c:pt idx="1">
                  <c:v>2023-03</c:v>
                </c:pt>
                <c:pt idx="2">
                  <c:v>2023-04</c:v>
                </c:pt>
                <c:pt idx="3">
                  <c:v>2023-06</c:v>
                </c:pt>
                <c:pt idx="4">
                  <c:v>2023-07</c:v>
                </c:pt>
                <c:pt idx="5">
                  <c:v>2023-08</c:v>
                </c:pt>
                <c:pt idx="6">
                  <c:v>2023-09</c:v>
                </c:pt>
                <c:pt idx="7">
                  <c:v>2023-10</c:v>
                </c:pt>
                <c:pt idx="8">
                  <c:v>2023-11</c:v>
                </c:pt>
                <c:pt idx="9">
                  <c:v>2023-12</c:v>
                </c:pt>
                <c:pt idx="10">
                  <c:v>2024-01</c:v>
                </c:pt>
                <c:pt idx="11">
                  <c:v>2024-02</c:v>
                </c:pt>
                <c:pt idx="12">
                  <c:v>2024-03</c:v>
                </c:pt>
                <c:pt idx="13">
                  <c:v>2024-04</c:v>
                </c:pt>
                <c:pt idx="14">
                  <c:v>2024-05</c:v>
                </c:pt>
                <c:pt idx="15">
                  <c:v>2024-06</c:v>
                </c:pt>
                <c:pt idx="16">
                  <c:v>2024-07</c:v>
                </c:pt>
                <c:pt idx="17">
                  <c:v>2024-08</c:v>
                </c:pt>
                <c:pt idx="18">
                  <c:v>2024-09</c:v>
                </c:pt>
                <c:pt idx="19">
                  <c:v>2024-10</c:v>
                </c:pt>
                <c:pt idx="20">
                  <c:v>2024-11</c:v>
                </c:pt>
                <c:pt idx="21">
                  <c:v>2024-12</c:v>
                </c:pt>
                <c:pt idx="22">
                  <c:v>2025-01</c:v>
                </c:pt>
                <c:pt idx="23">
                  <c:v>2025-02</c:v>
                </c:pt>
                <c:pt idx="24">
                  <c:v>2025-03</c:v>
                </c:pt>
                <c:pt idx="25">
                  <c:v>2025-04</c:v>
                </c:pt>
                <c:pt idx="26">
                  <c:v>2025-05</c:v>
                </c:pt>
                <c:pt idx="27">
                  <c:v>2025-06</c:v>
                </c:pt>
                <c:pt idx="28">
                  <c:v>2025-07</c:v>
                </c:pt>
                <c:pt idx="29">
                  <c:v>2025-09</c:v>
                </c:pt>
                <c:pt idx="30">
                  <c:v>2025-10</c:v>
                </c:pt>
                <c:pt idx="31">
                  <c:v>2025-11</c:v>
                </c:pt>
                <c:pt idx="32">
                  <c:v>2025-12</c:v>
                </c:pt>
              </c:strCache>
            </c:strRef>
          </c:cat>
          <c:val>
            <c:numRef>
              <c:f>Sheet1!$D$2:$D$34</c:f>
              <c:numCache>
                <c:formatCode>General</c:formatCode>
                <c:ptCount val="33"/>
                <c:pt idx="0">
                  <c:v>-2.7063599458728009E-3</c:v>
                </c:pt>
                <c:pt idx="1">
                  <c:v>0</c:v>
                </c:pt>
                <c:pt idx="2">
                  <c:v>6.9199457259158756E-2</c:v>
                </c:pt>
                <c:pt idx="3">
                  <c:v>-0.10469543147208121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0.17753366406803686</c:v>
                </c:pt>
                <c:pt idx="8">
                  <c:v>-6.9515498043936197E-2</c:v>
                </c:pt>
                <c:pt idx="9">
                  <c:v>0</c:v>
                </c:pt>
                <c:pt idx="10">
                  <c:v>-6.6623544631306597E-2</c:v>
                </c:pt>
                <c:pt idx="11">
                  <c:v>0</c:v>
                </c:pt>
                <c:pt idx="12">
                  <c:v>0.11191961191961192</c:v>
                </c:pt>
                <c:pt idx="13">
                  <c:v>0.11124961047055157</c:v>
                </c:pt>
                <c:pt idx="14">
                  <c:v>0</c:v>
                </c:pt>
                <c:pt idx="15">
                  <c:v>-0.10342120022434101</c:v>
                </c:pt>
                <c:pt idx="16">
                  <c:v>3.8408607531590144E-2</c:v>
                </c:pt>
                <c:pt idx="17">
                  <c:v>6.0240963855421692E-4</c:v>
                </c:pt>
                <c:pt idx="18">
                  <c:v>0</c:v>
                </c:pt>
                <c:pt idx="19">
                  <c:v>2.4382901866345574E-2</c:v>
                </c:pt>
                <c:pt idx="20">
                  <c:v>3.8201586835145459E-3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-3.3957845433255272E-2</c:v>
                </c:pt>
                <c:pt idx="25">
                  <c:v>3.7575757575757575E-2</c:v>
                </c:pt>
                <c:pt idx="26">
                  <c:v>1.2266355140186916E-2</c:v>
                </c:pt>
                <c:pt idx="27">
                  <c:v>7.5591459896133875E-2</c:v>
                </c:pt>
                <c:pt idx="28">
                  <c:v>-3.9967811158798286E-2</c:v>
                </c:pt>
                <c:pt idx="29">
                  <c:v>0</c:v>
                </c:pt>
                <c:pt idx="30">
                  <c:v>0</c:v>
                </c:pt>
                <c:pt idx="31">
                  <c:v>3.8278848840458228E-2</c:v>
                </c:pt>
                <c:pt idx="32">
                  <c:v>-6.9967707212055972E-3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5D7-4506-BD9B-2ECA7938E04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Chevrolet - Onix</c:v>
                </c:pt>
              </c:strCache>
            </c:strRef>
          </c:tx>
          <c:marker>
            <c:symbol val="none"/>
          </c:marker>
          <c:cat>
            <c:strRef>
              <c:f>Sheet1!$A$2:$A$34</c:f>
              <c:strCache>
                <c:ptCount val="33"/>
                <c:pt idx="0">
                  <c:v>2023-02</c:v>
                </c:pt>
                <c:pt idx="1">
                  <c:v>2023-03</c:v>
                </c:pt>
                <c:pt idx="2">
                  <c:v>2023-04</c:v>
                </c:pt>
                <c:pt idx="3">
                  <c:v>2023-06</c:v>
                </c:pt>
                <c:pt idx="4">
                  <c:v>2023-07</c:v>
                </c:pt>
                <c:pt idx="5">
                  <c:v>2023-08</c:v>
                </c:pt>
                <c:pt idx="6">
                  <c:v>2023-09</c:v>
                </c:pt>
                <c:pt idx="7">
                  <c:v>2023-10</c:v>
                </c:pt>
                <c:pt idx="8">
                  <c:v>2023-11</c:v>
                </c:pt>
                <c:pt idx="9">
                  <c:v>2023-12</c:v>
                </c:pt>
                <c:pt idx="10">
                  <c:v>2024-01</c:v>
                </c:pt>
                <c:pt idx="11">
                  <c:v>2024-02</c:v>
                </c:pt>
                <c:pt idx="12">
                  <c:v>2024-03</c:v>
                </c:pt>
                <c:pt idx="13">
                  <c:v>2024-04</c:v>
                </c:pt>
                <c:pt idx="14">
                  <c:v>2024-05</c:v>
                </c:pt>
                <c:pt idx="15">
                  <c:v>2024-06</c:v>
                </c:pt>
                <c:pt idx="16">
                  <c:v>2024-07</c:v>
                </c:pt>
                <c:pt idx="17">
                  <c:v>2024-08</c:v>
                </c:pt>
                <c:pt idx="18">
                  <c:v>2024-09</c:v>
                </c:pt>
                <c:pt idx="19">
                  <c:v>2024-10</c:v>
                </c:pt>
                <c:pt idx="20">
                  <c:v>2024-11</c:v>
                </c:pt>
                <c:pt idx="21">
                  <c:v>2024-12</c:v>
                </c:pt>
                <c:pt idx="22">
                  <c:v>2025-01</c:v>
                </c:pt>
                <c:pt idx="23">
                  <c:v>2025-02</c:v>
                </c:pt>
                <c:pt idx="24">
                  <c:v>2025-03</c:v>
                </c:pt>
                <c:pt idx="25">
                  <c:v>2025-04</c:v>
                </c:pt>
                <c:pt idx="26">
                  <c:v>2025-05</c:v>
                </c:pt>
                <c:pt idx="27">
                  <c:v>2025-06</c:v>
                </c:pt>
                <c:pt idx="28">
                  <c:v>2025-07</c:v>
                </c:pt>
                <c:pt idx="29">
                  <c:v>2025-09</c:v>
                </c:pt>
                <c:pt idx="30">
                  <c:v>2025-10</c:v>
                </c:pt>
                <c:pt idx="31">
                  <c:v>2025-11</c:v>
                </c:pt>
                <c:pt idx="32">
                  <c:v>2025-12</c:v>
                </c:pt>
              </c:strCache>
            </c:strRef>
          </c:cat>
          <c:val>
            <c:numRef>
              <c:f>Sheet1!$E$2:$E$34</c:f>
              <c:numCache>
                <c:formatCode>General</c:formatCode>
                <c:ptCount val="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-6.3341250989707044E-3</c:v>
                </c:pt>
                <c:pt idx="5">
                  <c:v>0</c:v>
                </c:pt>
                <c:pt idx="6">
                  <c:v>-2.3904382470119521E-3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8.5463258785942492E-2</c:v>
                </c:pt>
                <c:pt idx="11">
                  <c:v>0</c:v>
                </c:pt>
                <c:pt idx="12">
                  <c:v>-6.8432671081677707E-2</c:v>
                </c:pt>
                <c:pt idx="13">
                  <c:v>4.7393364928909956E-3</c:v>
                </c:pt>
                <c:pt idx="14">
                  <c:v>0</c:v>
                </c:pt>
                <c:pt idx="15">
                  <c:v>0</c:v>
                </c:pt>
                <c:pt idx="16">
                  <c:v>6.6823899371069181E-2</c:v>
                </c:pt>
                <c:pt idx="17">
                  <c:v>0</c:v>
                </c:pt>
                <c:pt idx="18">
                  <c:v>8.1061164333087691E-3</c:v>
                </c:pt>
                <c:pt idx="19">
                  <c:v>0</c:v>
                </c:pt>
                <c:pt idx="20">
                  <c:v>-2.948343079922032E-2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-4.5694200351493804E-2</c:v>
                </c:pt>
                <c:pt idx="26">
                  <c:v>0</c:v>
                </c:pt>
                <c:pt idx="27">
                  <c:v>0.11049723756906077</c:v>
                </c:pt>
                <c:pt idx="28">
                  <c:v>0</c:v>
                </c:pt>
                <c:pt idx="29">
                  <c:v>0</c:v>
                </c:pt>
                <c:pt idx="30">
                  <c:v>-5.5674010897891542E-2</c:v>
                </c:pt>
                <c:pt idx="31">
                  <c:v>6.1214249874561012E-2</c:v>
                </c:pt>
                <c:pt idx="32">
                  <c:v>-0.12056737588652482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25D7-4506-BD9B-2ECA7938E04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Chevrolet - Camaro</c:v>
                </c:pt>
              </c:strCache>
            </c:strRef>
          </c:tx>
          <c:marker>
            <c:symbol val="none"/>
          </c:marker>
          <c:cat>
            <c:strRef>
              <c:f>Sheet1!$A$2:$A$34</c:f>
              <c:strCache>
                <c:ptCount val="33"/>
                <c:pt idx="0">
                  <c:v>2023-02</c:v>
                </c:pt>
                <c:pt idx="1">
                  <c:v>2023-03</c:v>
                </c:pt>
                <c:pt idx="2">
                  <c:v>2023-04</c:v>
                </c:pt>
                <c:pt idx="3">
                  <c:v>2023-06</c:v>
                </c:pt>
                <c:pt idx="4">
                  <c:v>2023-07</c:v>
                </c:pt>
                <c:pt idx="5">
                  <c:v>2023-08</c:v>
                </c:pt>
                <c:pt idx="6">
                  <c:v>2023-09</c:v>
                </c:pt>
                <c:pt idx="7">
                  <c:v>2023-10</c:v>
                </c:pt>
                <c:pt idx="8">
                  <c:v>2023-11</c:v>
                </c:pt>
                <c:pt idx="9">
                  <c:v>2023-12</c:v>
                </c:pt>
                <c:pt idx="10">
                  <c:v>2024-01</c:v>
                </c:pt>
                <c:pt idx="11">
                  <c:v>2024-02</c:v>
                </c:pt>
                <c:pt idx="12">
                  <c:v>2024-03</c:v>
                </c:pt>
                <c:pt idx="13">
                  <c:v>2024-04</c:v>
                </c:pt>
                <c:pt idx="14">
                  <c:v>2024-05</c:v>
                </c:pt>
                <c:pt idx="15">
                  <c:v>2024-06</c:v>
                </c:pt>
                <c:pt idx="16">
                  <c:v>2024-07</c:v>
                </c:pt>
                <c:pt idx="17">
                  <c:v>2024-08</c:v>
                </c:pt>
                <c:pt idx="18">
                  <c:v>2024-09</c:v>
                </c:pt>
                <c:pt idx="19">
                  <c:v>2024-10</c:v>
                </c:pt>
                <c:pt idx="20">
                  <c:v>2024-11</c:v>
                </c:pt>
                <c:pt idx="21">
                  <c:v>2024-12</c:v>
                </c:pt>
                <c:pt idx="22">
                  <c:v>2025-01</c:v>
                </c:pt>
                <c:pt idx="23">
                  <c:v>2025-02</c:v>
                </c:pt>
                <c:pt idx="24">
                  <c:v>2025-03</c:v>
                </c:pt>
                <c:pt idx="25">
                  <c:v>2025-04</c:v>
                </c:pt>
                <c:pt idx="26">
                  <c:v>2025-05</c:v>
                </c:pt>
                <c:pt idx="27">
                  <c:v>2025-06</c:v>
                </c:pt>
                <c:pt idx="28">
                  <c:v>2025-07</c:v>
                </c:pt>
                <c:pt idx="29">
                  <c:v>2025-09</c:v>
                </c:pt>
                <c:pt idx="30">
                  <c:v>2025-10</c:v>
                </c:pt>
                <c:pt idx="31">
                  <c:v>2025-11</c:v>
                </c:pt>
                <c:pt idx="32">
                  <c:v>2025-12</c:v>
                </c:pt>
              </c:strCache>
            </c:strRef>
          </c:cat>
          <c:val>
            <c:numRef>
              <c:f>Sheet1!$F$2:$F$34</c:f>
              <c:numCache>
                <c:formatCode>General</c:formatCode>
                <c:ptCount val="33"/>
                <c:pt idx="0">
                  <c:v>0</c:v>
                </c:pt>
                <c:pt idx="1">
                  <c:v>0</c:v>
                </c:pt>
                <c:pt idx="2">
                  <c:v>9.0725404110955893E-2</c:v>
                </c:pt>
                <c:pt idx="3">
                  <c:v>-3.0874785591766723E-3</c:v>
                </c:pt>
                <c:pt idx="4">
                  <c:v>-8.0293645331498045E-3</c:v>
                </c:pt>
                <c:pt idx="5">
                  <c:v>-0.10545790934320073</c:v>
                </c:pt>
                <c:pt idx="6">
                  <c:v>0.10224922440537747</c:v>
                </c:pt>
                <c:pt idx="7">
                  <c:v>-3.6706930925296116E-2</c:v>
                </c:pt>
                <c:pt idx="8">
                  <c:v>0</c:v>
                </c:pt>
                <c:pt idx="9">
                  <c:v>4.261017774531288E-2</c:v>
                </c:pt>
                <c:pt idx="10">
                  <c:v>0</c:v>
                </c:pt>
                <c:pt idx="11">
                  <c:v>2.4521251751517981E-2</c:v>
                </c:pt>
                <c:pt idx="12">
                  <c:v>2.9860952815135629E-2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8.8534749889331559E-3</c:v>
                </c:pt>
                <c:pt idx="18">
                  <c:v>0</c:v>
                </c:pt>
                <c:pt idx="19">
                  <c:v>0</c:v>
                </c:pt>
                <c:pt idx="20">
                  <c:v>3.2250987275120664E-2</c:v>
                </c:pt>
                <c:pt idx="21">
                  <c:v>0</c:v>
                </c:pt>
                <c:pt idx="22">
                  <c:v>-5.5047821466524975E-2</c:v>
                </c:pt>
                <c:pt idx="23">
                  <c:v>5.2856500224921277E-2</c:v>
                </c:pt>
                <c:pt idx="24">
                  <c:v>-3.2898953215124975E-2</c:v>
                </c:pt>
                <c:pt idx="25">
                  <c:v>0</c:v>
                </c:pt>
                <c:pt idx="26">
                  <c:v>1.5904572564612324E-2</c:v>
                </c:pt>
                <c:pt idx="27">
                  <c:v>5.5446836268754074E-2</c:v>
                </c:pt>
                <c:pt idx="28">
                  <c:v>-2.1837659662134322E-2</c:v>
                </c:pt>
                <c:pt idx="29">
                  <c:v>0</c:v>
                </c:pt>
                <c:pt idx="30">
                  <c:v>0</c:v>
                </c:pt>
                <c:pt idx="31">
                  <c:v>-2.5695029486099412E-2</c:v>
                </c:pt>
                <c:pt idx="3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25D7-4506-BD9B-2ECA7938E0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1600"/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0.0%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s-CL"/>
          </a:p>
        </c:txPr>
        <c:crossAx val="211879178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8083980980061254"/>
          <c:y val="0.82874604268518348"/>
          <c:w val="0.71805367433791256"/>
          <c:h val="0.15413152767350896"/>
        </c:manualLayout>
      </c:layout>
      <c:overlay val="0"/>
      <c:txPr>
        <a:bodyPr/>
        <a:lstStyle/>
        <a:p>
          <a:pPr>
            <a:defRPr sz="1200"/>
          </a:pPr>
          <a:endParaRPr lang="es-CL"/>
        </a:p>
      </c:txPr>
    </c:legend>
    <c:plotVisOnly val="1"/>
    <c:dispBlanksAs val="gap"/>
    <c:showDLblsOverMax val="0"/>
  </c:chart>
  <c:txPr>
    <a:bodyPr/>
    <a:lstStyle/>
    <a:p>
      <a:pPr>
        <a:defRPr sz="1800" b="0" i="0">
          <a:latin typeface="Avenir Light" panose="020B0402020203020204" pitchFamily="34" charset="77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06196"/>
            <a:ext cx="4352927" cy="1142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rtl="0"/>
            <a:r>
              <a:rPr lang="es" dirty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9472" y="606196"/>
            <a:ext cx="4352927" cy="114227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lang="en-US" sz="1400" dirty="0"/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 dirty="0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2132520"/>
            <a:ext cx="10972800" cy="411588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27649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81760"/>
            <a:ext cx="10972799" cy="735400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" dirty="0"/>
              <a:t>Haga clic para modificar los estilos de texto del patrón</a:t>
            </a:r>
          </a:p>
          <a:p>
            <a:pPr lvl="1" rtl="0"/>
            <a:r>
              <a:rPr lang="es" dirty="0"/>
              <a:t>Segundo nivel</a:t>
            </a:r>
          </a:p>
          <a:p>
            <a:pPr lvl="2" rtl="0"/>
            <a:r>
              <a:rPr lang="es" dirty="0"/>
              <a:t>Tercer nivel</a:t>
            </a:r>
          </a:p>
          <a:p>
            <a:pPr lvl="3" rtl="0"/>
            <a:r>
              <a:rPr lang="es" dirty="0"/>
              <a:t>Cuarto nivel</a:t>
            </a:r>
          </a:p>
          <a:p>
            <a:pPr lvl="4" rtl="0"/>
            <a:r>
              <a:rPr lang="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803610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on im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4840225"/>
            <a:ext cx="10963658" cy="7996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200" dirty="0"/>
            </a:lvl1pPr>
          </a:lstStyle>
          <a:p>
            <a:pPr lvl="0" rtl="0"/>
            <a:r>
              <a:rPr lang="es" dirty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5845175"/>
            <a:ext cx="10963658" cy="3651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 dirty="0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647700"/>
            <a:ext cx="10972800" cy="380847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29742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on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0569" y="606195"/>
            <a:ext cx="4045735" cy="39985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0569" y="4870174"/>
            <a:ext cx="3755116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 dirty="0"/>
          </a:p>
        </p:txBody>
      </p:sp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609600"/>
            <a:ext cx="6534582" cy="56388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66013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n image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8973" y="4403039"/>
            <a:ext cx="334733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 dirty="0"/>
          </a:p>
        </p:txBody>
      </p:sp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" y="1371600"/>
            <a:ext cx="7239001" cy="48768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08128346-98F7-4B7C-F240-8FCAC404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6442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on imagen 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371600"/>
            <a:ext cx="3892269" cy="3276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032606"/>
            <a:ext cx="3177209" cy="87123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 dirty="0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11574" y="1371600"/>
            <a:ext cx="6470826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81617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371600"/>
            <a:ext cx="10049256" cy="3505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876800"/>
            <a:ext cx="7769354" cy="1371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897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401420"/>
            <a:ext cx="9140954" cy="28367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2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622197"/>
            <a:ext cx="7312153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883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71600"/>
            <a:ext cx="8229600" cy="2567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ctr">
              <a:defRPr sz="32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375642"/>
            <a:ext cx="7588155" cy="1029310"/>
          </a:xfrm>
        </p:spPr>
        <p:txBody>
          <a:bodyPr rtlCol="0"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"/>
              <a:t>Haga clic para editar el estilo de subtítulo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426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417671"/>
            <a:ext cx="7909560" cy="48307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2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"/>
              <a:t>Encabezado de sección</a:t>
            </a:r>
          </a:p>
        </p:txBody>
      </p:sp>
    </p:spTree>
    <p:extLst>
      <p:ext uri="{BB962C8B-B14F-4D97-AF65-F5344CB8AC3E}">
        <p14:creationId xmlns:p14="http://schemas.microsoft.com/office/powerpoint/2010/main" val="3753984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66" y="1371600"/>
            <a:ext cx="8470605" cy="104143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32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2797083"/>
            <a:ext cx="8470605" cy="3451317"/>
          </a:xfrm>
        </p:spPr>
        <p:txBody>
          <a:bodyPr rtlCol="0"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  <a:lvl2pPr marL="685800" indent="-4572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577113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5" y="1371600"/>
            <a:ext cx="5916508" cy="105210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32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1371599"/>
            <a:ext cx="4663806" cy="4876801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59796" y="2807753"/>
            <a:ext cx="5916507" cy="3440647"/>
          </a:xfrm>
        </p:spPr>
        <p:txBody>
          <a:bodyPr rtlCol="0"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306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con imagen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371600"/>
            <a:ext cx="2441448" cy="487680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4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8" name="Marcador de fecha 2">
            <a:extLst>
              <a:ext uri="{FF2B5EF4-FFF2-40B4-BE49-F238E27FC236}">
                <a16:creationId xmlns:a16="http://schemas.microsoft.com/office/drawing/2014/main" id="{4C796253-2EF8-E90A-A94F-8CFC6E39EE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1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08304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60625" y="1371599"/>
            <a:ext cx="5272821" cy="4876801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4856" y="1371600"/>
            <a:ext cx="2441448" cy="4876800"/>
          </a:xfrm>
        </p:spPr>
        <p:txBody>
          <a:bodyPr rtlCol="0"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5059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ctr">
              <a:defRPr sz="3200"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588424"/>
            <a:ext cx="4659735" cy="1645198"/>
          </a:xfrm>
        </p:spPr>
        <p:txBody>
          <a:bodyPr rtlCol="0"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0441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291" y="1373986"/>
            <a:ext cx="3493858" cy="345689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400"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373986"/>
            <a:ext cx="4956175" cy="3461212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2050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400"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22181" y="1389134"/>
            <a:ext cx="6279220" cy="4083579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8740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71600"/>
            <a:ext cx="3496147" cy="487680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400"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4872" y="1371600"/>
            <a:ext cx="7081431" cy="4876800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8985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1600"/>
            <a:ext cx="3349754" cy="272145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4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3402" y="1371600"/>
            <a:ext cx="7232901" cy="5181600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6657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 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1600"/>
            <a:ext cx="4352926" cy="76677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4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684DE9B9-A2D7-1C5E-03A8-327B24C29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2522423"/>
            <a:ext cx="4328497" cy="370057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739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289" y="1371601"/>
            <a:ext cx="6632111" cy="606888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1904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371599"/>
            <a:ext cx="3950854" cy="48768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0290" y="2362534"/>
            <a:ext cx="6626014" cy="3901533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4112187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599"/>
            <a:ext cx="6632111" cy="606888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799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Ejemplo de Texto de pie de página</a:t>
            </a:r>
            <a:endParaRPr lang="es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53334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362534"/>
            <a:ext cx="6631984" cy="3885865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4" name="Marcador de posición de imagen 13">
            <a:extLst>
              <a:ext uri="{FF2B5EF4-FFF2-40B4-BE49-F238E27FC236}">
                <a16:creationId xmlns:a16="http://schemas.microsoft.com/office/drawing/2014/main" id="{D62B7BD4-B0D6-F90A-8AD2-9FA1574A17A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616880" y="1371599"/>
            <a:ext cx="3950854" cy="48768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849629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118" y="1371600"/>
            <a:ext cx="7172282" cy="606886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Ejemplo de Texto de pie de página</a:t>
            </a:r>
            <a:endParaRPr lang="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371600"/>
            <a:ext cx="3413760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10118" y="2362534"/>
            <a:ext cx="7172282" cy="3885866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1243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371600"/>
            <a:ext cx="7166187" cy="606886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4953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362534"/>
            <a:ext cx="7166188" cy="3885866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3" name="Marcador de posición de imagen 10">
            <a:extLst>
              <a:ext uri="{FF2B5EF4-FFF2-40B4-BE49-F238E27FC236}">
                <a16:creationId xmlns:a16="http://schemas.microsoft.com/office/drawing/2014/main" id="{3B8151E2-ED8A-E9B1-A83A-CF01A37B5F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5593" y="1373529"/>
            <a:ext cx="3413760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975292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 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4077" y="1371599"/>
            <a:ext cx="4667987" cy="60688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400"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9" name="Marcador de fecha 4">
            <a:extLst>
              <a:ext uri="{FF2B5EF4-FFF2-40B4-BE49-F238E27FC236}">
                <a16:creationId xmlns:a16="http://schemas.microsoft.com/office/drawing/2014/main" id="{ADD95619-B63B-77E6-BE04-262FAAD12C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1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1371600"/>
            <a:ext cx="5882642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06805" y="2362535"/>
            <a:ext cx="4675596" cy="3885866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4528545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 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1371600"/>
            <a:ext cx="4700225" cy="60688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400"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10" name="Marcador de fecha 4">
            <a:extLst>
              <a:ext uri="{FF2B5EF4-FFF2-40B4-BE49-F238E27FC236}">
                <a16:creationId xmlns:a16="http://schemas.microsoft.com/office/drawing/2014/main" id="{84676EBB-6E0A-AD72-143B-39A640FF35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3464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362534"/>
            <a:ext cx="4700225" cy="3885866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3" name="Marcador de posición de imagen 10">
            <a:extLst>
              <a:ext uri="{FF2B5EF4-FFF2-40B4-BE49-F238E27FC236}">
                <a16:creationId xmlns:a16="http://schemas.microsoft.com/office/drawing/2014/main" id="{87DB94FD-8F2A-F0DB-71EB-3565077D4A2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99758" y="1371600"/>
            <a:ext cx="5882642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4888356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1371599"/>
            <a:ext cx="3363514" cy="91440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4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Marcador de fecha 3">
            <a:extLst>
              <a:ext uri="{FF2B5EF4-FFF2-40B4-BE49-F238E27FC236}">
                <a16:creationId xmlns:a16="http://schemas.microsoft.com/office/drawing/2014/main" id="{CBA07C19-A01D-B0B9-930B-9E9E7D2E65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799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1903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371600"/>
            <a:ext cx="7197978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8887" y="2670047"/>
            <a:ext cx="3363513" cy="3578353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5278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1371599"/>
            <a:ext cx="3363513" cy="91440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400"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1776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5" y="2670047"/>
            <a:ext cx="3363386" cy="3578353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3" name="Marcador de posición de imagen 10">
            <a:extLst>
              <a:ext uri="{FF2B5EF4-FFF2-40B4-BE49-F238E27FC236}">
                <a16:creationId xmlns:a16="http://schemas.microsoft.com/office/drawing/2014/main" id="{158FD965-81B2-7E47-FC2D-2FFFA61C3D0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78198" y="1371600"/>
            <a:ext cx="7197978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381660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1371600"/>
            <a:ext cx="2699254" cy="1836503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1" y="322731"/>
            <a:ext cx="71628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1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5697" y="1371600"/>
            <a:ext cx="7885606" cy="48768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3147" y="3592150"/>
            <a:ext cx="2699254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2568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 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1371600"/>
            <a:ext cx="2699254" cy="1858941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592150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3" name="Marcador de posición de imagen 9">
            <a:extLst>
              <a:ext uri="{FF2B5EF4-FFF2-40B4-BE49-F238E27FC236}">
                <a16:creationId xmlns:a16="http://schemas.microsoft.com/office/drawing/2014/main" id="{7A8F660F-60A6-785B-047B-B48856C7BB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96794" y="1371600"/>
            <a:ext cx="7885606" cy="48768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445975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 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012267"/>
            <a:ext cx="4019522" cy="123613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400"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12" name="Marcador de fecha 4">
            <a:extLst>
              <a:ext uri="{FF2B5EF4-FFF2-40B4-BE49-F238E27FC236}">
                <a16:creationId xmlns:a16="http://schemas.microsoft.com/office/drawing/2014/main" id="{2D9E4C7C-63E4-6DA5-5108-15D4DA6D06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1371600"/>
            <a:ext cx="10966705" cy="325661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8927" y="5012267"/>
            <a:ext cx="6563474" cy="123613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4530057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205330"/>
            <a:ext cx="3044954" cy="201958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400"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9" name="Marcador de fecha 4">
            <a:extLst>
              <a:ext uri="{FF2B5EF4-FFF2-40B4-BE49-F238E27FC236}">
                <a16:creationId xmlns:a16="http://schemas.microsoft.com/office/drawing/2014/main" id="{E59D63EA-A363-194D-0D29-EB63BC89E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1371600"/>
            <a:ext cx="10966705" cy="244968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44358" y="4205331"/>
            <a:ext cx="7538041" cy="201958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1620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90892"/>
            <a:ext cx="3021873" cy="177354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1390891"/>
            <a:ext cx="7460029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4127577"/>
            <a:ext cx="10972801" cy="2120823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353842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 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745559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4952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501206"/>
            <a:ext cx="4513079" cy="3747194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12485" y="2501206"/>
            <a:ext cx="6066867" cy="374719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 rtl="0">
              <a:buNone/>
            </a:pPr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50774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 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745560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7999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501206"/>
            <a:ext cx="4931835" cy="3747194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31240" y="2501206"/>
            <a:ext cx="5651159" cy="3747194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 rtl="0">
              <a:buNone/>
            </a:pPr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6289616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745558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15" name="Marcador de posición de imagen 11">
            <a:extLst>
              <a:ext uri="{FF2B5EF4-FFF2-40B4-BE49-F238E27FC236}">
                <a16:creationId xmlns:a16="http://schemas.microsoft.com/office/drawing/2014/main" id="{95AEE073-61C4-86E8-2CDD-336E22094FD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2647" y="2501206"/>
            <a:ext cx="6066867" cy="374719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 rtl="0">
              <a:buNone/>
            </a:pPr>
            <a:r>
              <a:rPr lang="es"/>
              <a:t>   </a:t>
            </a:r>
          </a:p>
        </p:txBody>
      </p:sp>
      <p:sp>
        <p:nvSpPr>
          <p:cNvPr id="14" name="Marcador de contenido 7">
            <a:extLst>
              <a:ext uri="{FF2B5EF4-FFF2-40B4-BE49-F238E27FC236}">
                <a16:creationId xmlns:a16="http://schemas.microsoft.com/office/drawing/2014/main" id="{BB848C29-CF42-98B7-D019-4F384E06AD9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069321" y="2501206"/>
            <a:ext cx="4513079" cy="3747194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3290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 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2746246"/>
            <a:ext cx="4675632" cy="350215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12502" y="1371600"/>
            <a:ext cx="5869899" cy="4876800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E735C4D-196A-B412-D7E5-D678F7696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285338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 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3425954" cy="91745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400"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2673096"/>
            <a:ext cx="3429000" cy="357530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25359" y="1371600"/>
            <a:ext cx="7152279" cy="4876800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0144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 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399228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15" name="Marcador de posición de imagen 11">
            <a:extLst>
              <a:ext uri="{FF2B5EF4-FFF2-40B4-BE49-F238E27FC236}">
                <a16:creationId xmlns:a16="http://schemas.microsoft.com/office/drawing/2014/main" id="{95AEE073-61C4-86E8-2CDD-336E22094FD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2647" y="2154876"/>
            <a:ext cx="8499719" cy="409352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 rtl="0">
              <a:buNone/>
            </a:pPr>
            <a:r>
              <a:rPr lang="es"/>
              <a:t>   </a:t>
            </a:r>
          </a:p>
        </p:txBody>
      </p:sp>
      <p:sp>
        <p:nvSpPr>
          <p:cNvPr id="5" name="Marcador de contenido 7">
            <a:extLst>
              <a:ext uri="{FF2B5EF4-FFF2-40B4-BE49-F238E27FC236}">
                <a16:creationId xmlns:a16="http://schemas.microsoft.com/office/drawing/2014/main" id="{15F7C753-E8D9-F006-4FC2-8BA2C55187F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496414" y="2154876"/>
            <a:ext cx="2085986" cy="4093524"/>
          </a:xfrm>
        </p:spPr>
        <p:txBody>
          <a:bodyPr rtlCol="0" anchor="t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5656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imagen 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399228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Marcador de posición de imagen 10">
            <a:extLst>
              <a:ext uri="{FF2B5EF4-FFF2-40B4-BE49-F238E27FC236}">
                <a16:creationId xmlns:a16="http://schemas.microsoft.com/office/drawing/2014/main" id="{B8BA6868-FD5D-17A2-6CAE-853852E870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2169506"/>
            <a:ext cx="10966705" cy="329251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 </a:t>
            </a:r>
          </a:p>
        </p:txBody>
      </p:sp>
      <p:sp>
        <p:nvSpPr>
          <p:cNvPr id="5" name="Marcador de contenido 7">
            <a:extLst>
              <a:ext uri="{FF2B5EF4-FFF2-40B4-BE49-F238E27FC236}">
                <a16:creationId xmlns:a16="http://schemas.microsoft.com/office/drawing/2014/main" id="{15F7C753-E8D9-F006-4FC2-8BA2C55187F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9600" y="5846064"/>
            <a:ext cx="10972800" cy="402336"/>
          </a:xfrm>
        </p:spPr>
        <p:txBody>
          <a:bodyPr rtlCol="0" anchor="b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5531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úmer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5325034"/>
            <a:ext cx="9762068" cy="916369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ctr">
              <a:lnSpc>
                <a:spcPct val="110000"/>
              </a:lnSpc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914400"/>
            <a:ext cx="10972800" cy="4105835"/>
          </a:xfrm>
        </p:spPr>
        <p:txBody>
          <a:bodyPr rtlCol="0"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27500" b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"/>
              <a:t>## %</a:t>
            </a:r>
          </a:p>
        </p:txBody>
      </p:sp>
    </p:spTree>
    <p:extLst>
      <p:ext uri="{BB962C8B-B14F-4D97-AF65-F5344CB8AC3E}">
        <p14:creationId xmlns:p14="http://schemas.microsoft.com/office/powerpoint/2010/main" val="78374370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gran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D37F0C99-9A58-96BA-B51F-4BEDCF1A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257802"/>
            <a:ext cx="10052304" cy="990598"/>
          </a:xfrm>
          <a:prstGeom prst="rect">
            <a:avLst/>
          </a:prstGeom>
        </p:spPr>
        <p:txBody>
          <a:bodyPr rtlCol="0"/>
          <a:lstStyle>
            <a:lvl1pPr>
              <a:lnSpc>
                <a:spcPct val="110000"/>
              </a:lnSpc>
              <a:defRPr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F859DF22-2D22-B432-1B7E-1CCD6DA9C5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904875"/>
            <a:ext cx="10052050" cy="4038600"/>
          </a:xfrm>
        </p:spPr>
        <p:txBody>
          <a:bodyPr rtlCol="0" anchor="t"/>
          <a:lstStyle>
            <a:lvl1pPr>
              <a:lnSpc>
                <a:spcPct val="90000"/>
              </a:lnSpc>
              <a:buNone/>
              <a:defRPr sz="30000"/>
            </a:lvl1pPr>
          </a:lstStyle>
          <a:p>
            <a:pPr lvl="0" rtl="0"/>
            <a:r>
              <a:rPr lang="e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74530594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gran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69E00404-475A-8BBB-C6CE-9106DE692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7800" y="3962400"/>
            <a:ext cx="2514599" cy="2285999"/>
          </a:xfrm>
          <a:prstGeom prst="rect">
            <a:avLst/>
          </a:prstGeom>
        </p:spPr>
        <p:txBody>
          <a:bodyPr rtlCol="0" anchor="b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8" name="Marcador de contenido 10">
            <a:extLst>
              <a:ext uri="{FF2B5EF4-FFF2-40B4-BE49-F238E27FC236}">
                <a16:creationId xmlns:a16="http://schemas.microsoft.com/office/drawing/2014/main" id="{97D4B19F-6F49-D42F-E0D8-B04A3786655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904875"/>
            <a:ext cx="8077200" cy="5343524"/>
          </a:xfrm>
        </p:spPr>
        <p:txBody>
          <a:bodyPr rtlCol="0" anchor="t"/>
          <a:lstStyle>
            <a:lvl1pPr>
              <a:lnSpc>
                <a:spcPct val="90000"/>
              </a:lnSpc>
              <a:buNone/>
              <a:defRPr sz="27500"/>
            </a:lvl1pPr>
          </a:lstStyle>
          <a:p>
            <a:pPr lvl="0" rtl="0"/>
            <a:r>
              <a:rPr lang="e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6077276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irm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1371600"/>
            <a:ext cx="10972800" cy="4876800"/>
          </a:xfrm>
        </p:spPr>
        <p:txBody>
          <a:bodyPr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es"/>
              <a:t>Haga clic para agregar una instrucción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5571524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irmació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371600"/>
            <a:ext cx="10969752" cy="4876800"/>
          </a:xfrm>
        </p:spPr>
        <p:txBody>
          <a:bodyPr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es"/>
              <a:t>Haga clic para agregar una instrucción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7480493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cció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371600"/>
            <a:ext cx="10969752" cy="4876800"/>
          </a:xfrm>
        </p:spPr>
        <p:txBody>
          <a:bodyPr rtlCol="0"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es"/>
              <a:t>Haga clic para agregar una instrucción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5036090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572631"/>
            <a:ext cx="10966704" cy="640080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lnSpc>
                <a:spcPct val="120000"/>
              </a:lnSpc>
              <a:defRPr sz="2400" spc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1371600"/>
            <a:ext cx="10966704" cy="3806142"/>
          </a:xfrm>
        </p:spPr>
        <p:txBody>
          <a:bodyPr rtlCol="0"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</a:lstStyle>
          <a:p>
            <a:pPr lvl="0" rtl="0"/>
            <a:r>
              <a:rPr lang="es"/>
              <a:t>Haga clic para agregar una cita</a:t>
            </a:r>
          </a:p>
        </p:txBody>
      </p:sp>
    </p:spTree>
    <p:extLst>
      <p:ext uri="{BB962C8B-B14F-4D97-AF65-F5344CB8AC3E}">
        <p14:creationId xmlns:p14="http://schemas.microsoft.com/office/powerpoint/2010/main" val="221169363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5561790"/>
            <a:ext cx="9137903" cy="686610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r">
              <a:lnSpc>
                <a:spcPct val="120000"/>
              </a:lnSpc>
              <a:defRPr sz="2400" spc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371600"/>
            <a:ext cx="9144000" cy="3806142"/>
          </a:xfrm>
        </p:spPr>
        <p:txBody>
          <a:bodyPr rtlCol="0"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"/>
              <a:t>Haga clic para agregar una cita</a:t>
            </a:r>
          </a:p>
        </p:txBody>
      </p:sp>
    </p:spTree>
    <p:extLst>
      <p:ext uri="{BB962C8B-B14F-4D97-AF65-F5344CB8AC3E}">
        <p14:creationId xmlns:p14="http://schemas.microsoft.com/office/powerpoint/2010/main" val="27996522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7468" y="5561790"/>
            <a:ext cx="5954436" cy="686610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r">
              <a:lnSpc>
                <a:spcPct val="120000"/>
              </a:lnSpc>
              <a:defRPr sz="2000" b="1" spc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388534"/>
            <a:ext cx="9137904" cy="3789208"/>
          </a:xfrm>
        </p:spPr>
        <p:txBody>
          <a:bodyPr rtlCol="0" anchor="t">
            <a:norm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3200" b="1" i="0" cap="all" baseline="0">
                <a:latin typeface="+mj-lt"/>
              </a:defRPr>
            </a:lvl1pPr>
          </a:lstStyle>
          <a:p>
            <a:pPr lvl="0" rtl="0"/>
            <a:r>
              <a:rPr lang="es"/>
              <a:t>Haga clic para agregar una cita</a:t>
            </a:r>
          </a:p>
        </p:txBody>
      </p:sp>
    </p:spTree>
    <p:extLst>
      <p:ext uri="{BB962C8B-B14F-4D97-AF65-F5344CB8AC3E}">
        <p14:creationId xmlns:p14="http://schemas.microsoft.com/office/powerpoint/2010/main" val="345776526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0168559-22AF-9500-1ED0-9B034424F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10969752" cy="745558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01207"/>
            <a:ext cx="5289973" cy="3747192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6331" y="2501206"/>
            <a:ext cx="5289973" cy="3747193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85024319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380CBD81-BF35-3FFE-84F1-E86AACCAD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1600"/>
            <a:ext cx="10745788" cy="745558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255322"/>
            <a:ext cx="5289972" cy="554724"/>
          </a:xfrm>
        </p:spPr>
        <p:txBody>
          <a:bodyPr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948211"/>
            <a:ext cx="5289972" cy="3300190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330" y="2255322"/>
            <a:ext cx="5289974" cy="554724"/>
          </a:xfrm>
        </p:spPr>
        <p:txBody>
          <a:bodyPr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948211"/>
            <a:ext cx="5302568" cy="3300190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06834936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10963656" cy="745558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0181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1519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3801195" cy="121920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4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974848"/>
            <a:ext cx="3801195" cy="327355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1371600"/>
            <a:ext cx="6774366" cy="4876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19768655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3595634" cy="3124200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2400"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"/>
              <a:t>Ejemplo de Texto de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4800600"/>
            <a:ext cx="3595634" cy="1460174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84991" y="1371600"/>
            <a:ext cx="6997410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2571063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10972800" cy="186537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621024"/>
            <a:ext cx="10972800" cy="2627376"/>
          </a:xfrm>
        </p:spPr>
        <p:txBody>
          <a:bodyPr rtlCol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19177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ó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CL"/>
              <a:t>21/11/2025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Ejemplo de Texto de pie de página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870748"/>
            <a:ext cx="8430639" cy="1608008"/>
          </a:xfrm>
        </p:spPr>
        <p:txBody>
          <a:bodyPr rtlCol="0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06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501206"/>
            <a:ext cx="10966703" cy="372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" dirty="0"/>
              <a:t>Haga clic para modificar los estilos de texto del patrón</a:t>
            </a:r>
          </a:p>
          <a:p>
            <a:pPr lvl="1" rtl="0"/>
            <a:r>
              <a:rPr lang="es" dirty="0"/>
              <a:t>Segundo nivel</a:t>
            </a:r>
          </a:p>
          <a:p>
            <a:pPr lvl="2" rtl="0"/>
            <a:r>
              <a:rPr lang="es" dirty="0"/>
              <a:t>Tercer nivel</a:t>
            </a:r>
          </a:p>
          <a:p>
            <a:pPr lvl="3" rtl="0"/>
            <a:r>
              <a:rPr lang="es" dirty="0"/>
              <a:t>Cuarto nivel</a:t>
            </a:r>
          </a:p>
          <a:p>
            <a:pPr lvl="4" rtl="0"/>
            <a:r>
              <a:rPr lang="es" dirty="0"/>
              <a:t>Quinto nivel</a:t>
            </a:r>
          </a:p>
        </p:txBody>
      </p:sp>
      <p:sp>
        <p:nvSpPr>
          <p:cNvPr id="7" name="Marcador de título 6">
            <a:extLst>
              <a:ext uri="{FF2B5EF4-FFF2-40B4-BE49-F238E27FC236}">
                <a16:creationId xmlns:a16="http://schemas.microsoft.com/office/drawing/2014/main" id="{BB1937F1-6852-FF69-5566-98225E821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70231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b="1" i="0" kern="1200" cap="all" spc="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>
          <p15:clr>
            <a:srgbClr val="F26B43"/>
          </p15:clr>
        </p15:guide>
        <p15:guide id="24" pos="3840">
          <p15:clr>
            <a:srgbClr val="F26B43"/>
          </p15:clr>
        </p15:guide>
        <p15:guide id="25" pos="7296">
          <p15:clr>
            <a:srgbClr val="F26B43"/>
          </p15:clr>
        </p15:guide>
        <p15:guide id="26" pos="384">
          <p15:clr>
            <a:srgbClr val="F26B43"/>
          </p15:clr>
        </p15:guide>
        <p15:guide id="27" orient="horz" pos="192">
          <p15:clr>
            <a:srgbClr val="F26B43"/>
          </p15:clr>
        </p15:guide>
        <p15:guide id="28" orient="horz" pos="3936">
          <p15:clr>
            <a:srgbClr val="F26B43"/>
          </p15:clr>
        </p15:guide>
        <p15:guide id="29" orient="horz" pos="384">
          <p15:clr>
            <a:srgbClr val="F26B43"/>
          </p15:clr>
        </p15:guide>
        <p15:guide id="30" orient="horz" pos="4128">
          <p15:clr>
            <a:srgbClr val="F26B43"/>
          </p15:clr>
        </p15:guide>
        <p15:guide id="31" orient="horz" pos="864">
          <p15:clr>
            <a:srgbClr val="F26B43"/>
          </p15:clr>
        </p15:guide>
        <p15:guide id="32" pos="6720">
          <p15:clr>
            <a:srgbClr val="F26B43"/>
          </p15:clr>
        </p15:guide>
        <p15:guide id="33" pos="6096">
          <p15:clr>
            <a:srgbClr val="F26B43"/>
          </p15:clr>
        </p15:guide>
        <p15:guide id="34" pos="960">
          <p15:clr>
            <a:srgbClr val="F26B43"/>
          </p15:clr>
        </p15:guide>
        <p15:guide id="35" pos="1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84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12C4C-7B13-B795-9840-C4BA0DAFB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13B3A8F1-4D30-4365-33E6-568A55A59794}"/>
              </a:ext>
            </a:extLst>
          </p:cNvPr>
          <p:cNvGrpSpPr/>
          <p:nvPr/>
        </p:nvGrpSpPr>
        <p:grpSpPr>
          <a:xfrm>
            <a:off x="2770909" y="1077191"/>
            <a:ext cx="6650182" cy="4779818"/>
            <a:chOff x="2770909" y="1077191"/>
            <a:chExt cx="6650182" cy="4779818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7460FC4-1210-32BA-D673-7885D3C8F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31" t="20703" r="16016" b="34198"/>
            <a:stretch>
              <a:fillRect/>
            </a:stretch>
          </p:blipFill>
          <p:spPr>
            <a:xfrm>
              <a:off x="2770909" y="1077191"/>
              <a:ext cx="6650182" cy="4779818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013651D9-C3AC-4DE8-8E6F-22B29C689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04021" y="5054854"/>
              <a:ext cx="568579" cy="5839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6038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Gráficas financieras en una pantalla oscura">
            <a:extLst>
              <a:ext uri="{FF2B5EF4-FFF2-40B4-BE49-F238E27FC236}">
                <a16:creationId xmlns:a16="http://schemas.microsoft.com/office/drawing/2014/main" id="{382EEE7A-4F84-D1F9-21E4-DC8A81E35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2" r="8774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6000" b="1" dirty="0" err="1">
                <a:latin typeface="Avenir Black" panose="02000503020000020003" pitchFamily="2" charset="0"/>
              </a:rPr>
              <a:t>Reporte</a:t>
            </a:r>
            <a:r>
              <a:rPr lang="en-US" sz="6000" b="1" dirty="0">
                <a:latin typeface="Avenir Black" panose="02000503020000020003" pitchFamily="2" charset="0"/>
              </a:rPr>
              <a:t> General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2000" dirty="0" err="1">
                <a:latin typeface="Avenir Book" panose="02000503020000020003" pitchFamily="2" charset="0"/>
              </a:rPr>
              <a:t>Generado</a:t>
            </a:r>
            <a:r>
              <a:rPr lang="en-US" sz="2000" dirty="0">
                <a:latin typeface="Avenir Book" panose="02000503020000020003" pitchFamily="2" charset="0"/>
              </a:rPr>
              <a:t>: 28/01/2026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753" y="43760"/>
            <a:ext cx="10515600" cy="1133499"/>
          </a:xfrm>
        </p:spPr>
        <p:txBody>
          <a:bodyPr>
            <a:normAutofit/>
          </a:bodyPr>
          <a:lstStyle/>
          <a:p>
            <a:r>
              <a:rPr lang="en-US" sz="5400" b="1" dirty="0" err="1">
                <a:latin typeface="Avenir Black" panose="02000503020000020003" pitchFamily="2" charset="0"/>
              </a:rPr>
              <a:t>Resumen</a:t>
            </a:r>
            <a:r>
              <a:rPr lang="en-US" sz="5400" b="1" dirty="0">
                <a:latin typeface="Avenir Black" panose="02000503020000020003" pitchFamily="2" charset="0"/>
              </a:rPr>
              <a:t> </a:t>
            </a:r>
            <a:r>
              <a:rPr lang="en-US" sz="5400" b="1" dirty="0" err="1">
                <a:latin typeface="Avenir Black" panose="02000503020000020003" pitchFamily="2" charset="0"/>
              </a:rPr>
              <a:t>Ejecutivo</a:t>
            </a:r>
            <a:endParaRPr lang="en-US" sz="5400" b="1" dirty="0">
              <a:latin typeface="Avenir Black" panose="02000503020000020003" pitchFamily="2" charset="0"/>
            </a:endParaRPr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7040908"/>
              </p:ext>
            </p:extLst>
          </p:nvPr>
        </p:nvGraphicFramePr>
        <p:xfrm>
          <a:off x="838199" y="2061024"/>
          <a:ext cx="10515599" cy="4472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8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255">
                <a:tc>
                  <a:txBody>
                    <a:bodyPr/>
                    <a:lstStyle/>
                    <a:p>
                      <a:r>
                        <a:rPr lang="es-CL" sz="3000" b="0" i="0" dirty="0">
                          <a:latin typeface="Avenir Medium" panose="02000503020000020003" pitchFamily="2" charset="0"/>
                        </a:rPr>
                        <a:t>Métrica</a:t>
                      </a:r>
                    </a:p>
                  </a:txBody>
                  <a:tcPr marL="98417" marR="98417" marT="49209" marB="49209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3000" b="0" i="0" dirty="0">
                          <a:latin typeface="Avenir Medium" panose="02000503020000020003" pitchFamily="2" charset="0"/>
                        </a:rPr>
                        <a:t>Valor</a:t>
                      </a:r>
                    </a:p>
                  </a:txBody>
                  <a:tcPr marL="98417" marR="98417" marT="49209" marB="49209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255">
                <a:tc>
                  <a:txBody>
                    <a:bodyPr/>
                    <a:lstStyle/>
                    <a:p>
                      <a:r>
                        <a:rPr lang="es-CL" sz="2000" b="0" i="0" dirty="0">
                          <a:latin typeface="Avenir Light" panose="020B0402020203020204" pitchFamily="34" charset="77"/>
                        </a:rPr>
                        <a:t>Total Modelos</a:t>
                      </a:r>
                    </a:p>
                  </a:txBody>
                  <a:tcPr marL="98417" marR="98417" marT="49209" marB="49209"/>
                </a:tc>
                <a:tc>
                  <a:txBody>
                    <a:bodyPr/>
                    <a:lstStyle/>
                    <a:p>
                      <a:r>
                        <a:rPr lang="es-CL" sz="2000" b="0" i="0" dirty="0">
                          <a:latin typeface="Avenir Light" panose="020B0402020203020204" pitchFamily="34" charset="77"/>
                        </a:rPr>
                        <a:t>15</a:t>
                      </a:r>
                    </a:p>
                  </a:txBody>
                  <a:tcPr marL="98417" marR="98417" marT="49209" marB="492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255">
                <a:tc>
                  <a:txBody>
                    <a:bodyPr/>
                    <a:lstStyle/>
                    <a:p>
                      <a:r>
                        <a:rPr lang="es-CL" sz="2000" b="0" i="0" dirty="0">
                          <a:latin typeface="Avenir Light" panose="020B0402020203020204" pitchFamily="34" charset="77"/>
                        </a:rPr>
                        <a:t>Total Marcas</a:t>
                      </a:r>
                    </a:p>
                  </a:txBody>
                  <a:tcPr marL="98417" marR="98417" marT="49209" marB="49209"/>
                </a:tc>
                <a:tc>
                  <a:txBody>
                    <a:bodyPr/>
                    <a:lstStyle/>
                    <a:p>
                      <a:r>
                        <a:rPr lang="es-CL" sz="2000" b="0" i="0">
                          <a:latin typeface="Avenir Light" panose="020B0402020203020204" pitchFamily="34" charset="77"/>
                        </a:rPr>
                        <a:t>1</a:t>
                      </a:r>
                    </a:p>
                  </a:txBody>
                  <a:tcPr marL="98417" marR="98417" marT="49209" marB="4920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255">
                <a:tc>
                  <a:txBody>
                    <a:bodyPr/>
                    <a:lstStyle/>
                    <a:p>
                      <a:r>
                        <a:rPr lang="es-CL" sz="2000" b="0" i="0" dirty="0">
                          <a:latin typeface="Avenir Light" panose="020B0402020203020204" pitchFamily="34" charset="77"/>
                        </a:rPr>
                        <a:t>Precio Promedio</a:t>
                      </a:r>
                    </a:p>
                  </a:txBody>
                  <a:tcPr marL="98417" marR="98417" marT="49209" marB="49209"/>
                </a:tc>
                <a:tc>
                  <a:txBody>
                    <a:bodyPr/>
                    <a:lstStyle/>
                    <a:p>
                      <a:r>
                        <a:rPr lang="es-CL" sz="2000" b="0" i="0">
                          <a:latin typeface="Avenir Light" panose="020B0402020203020204" pitchFamily="34" charset="77"/>
                        </a:rPr>
                        <a:t>$ 26.989.333</a:t>
                      </a:r>
                    </a:p>
                  </a:txBody>
                  <a:tcPr marL="98417" marR="98417" marT="49209" marB="4920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255">
                <a:tc>
                  <a:txBody>
                    <a:bodyPr/>
                    <a:lstStyle/>
                    <a:p>
                      <a:r>
                        <a:rPr lang="es-CL" sz="2000" b="0" i="0" dirty="0">
                          <a:latin typeface="Avenir Light" panose="020B0402020203020204" pitchFamily="34" charset="77"/>
                        </a:rPr>
                        <a:t>Precio Mediano</a:t>
                      </a:r>
                    </a:p>
                  </a:txBody>
                  <a:tcPr marL="98417" marR="98417" marT="49209" marB="49209"/>
                </a:tc>
                <a:tc>
                  <a:txBody>
                    <a:bodyPr/>
                    <a:lstStyle/>
                    <a:p>
                      <a:r>
                        <a:rPr lang="es-CL" sz="2000" b="0" i="0">
                          <a:latin typeface="Avenir Light" panose="020B0402020203020204" pitchFamily="34" charset="77"/>
                        </a:rPr>
                        <a:t>$ 17.960.000</a:t>
                      </a:r>
                    </a:p>
                  </a:txBody>
                  <a:tcPr marL="98417" marR="98417" marT="49209" marB="4920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255">
                <a:tc>
                  <a:txBody>
                    <a:bodyPr/>
                    <a:lstStyle/>
                    <a:p>
                      <a:r>
                        <a:rPr lang="es-CL" sz="2000" b="0" i="0" dirty="0">
                          <a:latin typeface="Avenir Light" panose="020B0402020203020204" pitchFamily="34" charset="77"/>
                        </a:rPr>
                        <a:t>Precio Mínimo</a:t>
                      </a:r>
                    </a:p>
                  </a:txBody>
                  <a:tcPr marL="98417" marR="98417" marT="49209" marB="49209"/>
                </a:tc>
                <a:tc>
                  <a:txBody>
                    <a:bodyPr/>
                    <a:lstStyle/>
                    <a:p>
                      <a:r>
                        <a:rPr lang="es-CL" sz="2000" b="0" i="0" dirty="0">
                          <a:latin typeface="Avenir Light" panose="020B0402020203020204" pitchFamily="34" charset="77"/>
                        </a:rPr>
                        <a:t>$ 12.400.000</a:t>
                      </a:r>
                    </a:p>
                  </a:txBody>
                  <a:tcPr marL="98417" marR="98417" marT="49209" marB="4920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255">
                <a:tc>
                  <a:txBody>
                    <a:bodyPr/>
                    <a:lstStyle/>
                    <a:p>
                      <a:r>
                        <a:rPr lang="es-CL" sz="2000" b="0" i="0">
                          <a:latin typeface="Avenir Light" panose="020B0402020203020204" pitchFamily="34" charset="77"/>
                        </a:rPr>
                        <a:t>Precio Máximo</a:t>
                      </a:r>
                    </a:p>
                  </a:txBody>
                  <a:tcPr marL="98417" marR="98417" marT="49209" marB="49209"/>
                </a:tc>
                <a:tc>
                  <a:txBody>
                    <a:bodyPr/>
                    <a:lstStyle/>
                    <a:p>
                      <a:r>
                        <a:rPr lang="es-CL" sz="2000" b="0" i="0" dirty="0">
                          <a:latin typeface="Avenir Light" panose="020B0402020203020204" pitchFamily="34" charset="77"/>
                        </a:rPr>
                        <a:t>$ 46.820.000</a:t>
                      </a:r>
                    </a:p>
                  </a:txBody>
                  <a:tcPr marL="98417" marR="98417" marT="49209" marB="4920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255">
                <a:tc>
                  <a:txBody>
                    <a:bodyPr/>
                    <a:lstStyle/>
                    <a:p>
                      <a:r>
                        <a:rPr lang="es-CL" sz="2000" b="0" i="0">
                          <a:latin typeface="Avenir Light" panose="020B0402020203020204" pitchFamily="34" charset="77"/>
                        </a:rPr>
                        <a:t>Desviación Estándar</a:t>
                      </a:r>
                    </a:p>
                  </a:txBody>
                  <a:tcPr marL="98417" marR="98417" marT="49209" marB="49209"/>
                </a:tc>
                <a:tc>
                  <a:txBody>
                    <a:bodyPr/>
                    <a:lstStyle/>
                    <a:p>
                      <a:r>
                        <a:rPr lang="es-CL" sz="2000" b="0" i="0" dirty="0">
                          <a:latin typeface="Avenir Light" panose="020B0402020203020204" pitchFamily="34" charset="77"/>
                        </a:rPr>
                        <a:t>$ 15.102.869</a:t>
                      </a:r>
                    </a:p>
                  </a:txBody>
                  <a:tcPr marL="98417" marR="98417" marT="49209" marB="49209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255">
                <a:tc>
                  <a:txBody>
                    <a:bodyPr/>
                    <a:lstStyle/>
                    <a:p>
                      <a:r>
                        <a:rPr lang="es-CL" sz="2000" b="0" i="0">
                          <a:latin typeface="Avenir Light" panose="020B0402020203020204" pitchFamily="34" charset="77"/>
                        </a:rPr>
                        <a:t>Coef. Variación</a:t>
                      </a:r>
                    </a:p>
                  </a:txBody>
                  <a:tcPr marL="98417" marR="98417" marT="49209" marB="49209"/>
                </a:tc>
                <a:tc>
                  <a:txBody>
                    <a:bodyPr/>
                    <a:lstStyle/>
                    <a:p>
                      <a:r>
                        <a:rPr lang="es-CL" sz="2000" b="0" i="0" dirty="0">
                          <a:latin typeface="Avenir Light" panose="020B0402020203020204" pitchFamily="34" charset="77"/>
                        </a:rPr>
                        <a:t>56.0%</a:t>
                      </a:r>
                    </a:p>
                  </a:txBody>
                  <a:tcPr marL="98417" marR="98417" marT="49209" marB="4920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5255">
                <a:tc>
                  <a:txBody>
                    <a:bodyPr/>
                    <a:lstStyle/>
                    <a:p>
                      <a:r>
                        <a:rPr lang="es-CL" sz="2000" b="0" i="0" dirty="0">
                          <a:latin typeface="Avenir Light" panose="020B0402020203020204" pitchFamily="34" charset="77"/>
                        </a:rPr>
                        <a:t>Descuento Promedio</a:t>
                      </a:r>
                    </a:p>
                  </a:txBody>
                  <a:tcPr marL="98417" marR="98417" marT="49209" marB="49209"/>
                </a:tc>
                <a:tc>
                  <a:txBody>
                    <a:bodyPr/>
                    <a:lstStyle/>
                    <a:p>
                      <a:r>
                        <a:rPr lang="es-CL" sz="2000" b="0" i="0" dirty="0">
                          <a:latin typeface="Avenir Light" panose="020B0402020203020204" pitchFamily="34" charset="77"/>
                        </a:rPr>
                        <a:t>5.8%</a:t>
                      </a:r>
                    </a:p>
                  </a:txBody>
                  <a:tcPr marL="98417" marR="98417" marT="49209" marB="49209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1263"/>
            <a:ext cx="10515600" cy="150588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/>
            <a:r>
              <a:rPr lang="en-US" sz="4800" b="1" dirty="0" err="1">
                <a:latin typeface="Avenir Black" panose="02000503020000020003" pitchFamily="2" charset="0"/>
              </a:rPr>
              <a:t>Composición</a:t>
            </a:r>
            <a:r>
              <a:rPr lang="en-US" sz="4800" b="1" dirty="0">
                <a:latin typeface="Avenir Black" panose="02000503020000020003" pitchFamily="2" charset="0"/>
              </a:rPr>
              <a:t> de </a:t>
            </a:r>
            <a:r>
              <a:rPr lang="en-US" sz="4800" b="1" dirty="0" err="1">
                <a:latin typeface="Avenir Black" panose="02000503020000020003" pitchFamily="2" charset="0"/>
              </a:rPr>
              <a:t>Versiones</a:t>
            </a:r>
            <a:r>
              <a:rPr lang="en-US" sz="4800" b="1" dirty="0">
                <a:latin typeface="Avenir Black" panose="02000503020000020003" pitchFamily="2" charset="0"/>
              </a:rPr>
              <a:t> </a:t>
            </a:r>
            <a:r>
              <a:rPr lang="en-US" sz="4800" b="1" dirty="0" err="1">
                <a:latin typeface="Avenir Black" panose="02000503020000020003" pitchFamily="2" charset="0"/>
              </a:rPr>
              <a:t>por</a:t>
            </a:r>
            <a:r>
              <a:rPr lang="en-US" sz="4800" b="1" dirty="0">
                <a:latin typeface="Avenir Black" panose="02000503020000020003" pitchFamily="2" charset="0"/>
              </a:rPr>
              <a:t> </a:t>
            </a:r>
            <a:r>
              <a:rPr lang="en-US" sz="4800" b="1" dirty="0" err="1">
                <a:latin typeface="Avenir Black" panose="02000503020000020003" pitchFamily="2" charset="0"/>
              </a:rPr>
              <a:t>Segmento</a:t>
            </a:r>
            <a:endParaRPr lang="en-US" sz="4800" b="1" dirty="0">
              <a:latin typeface="Avenir Black" panose="02000503020000020003" pitchFamily="2" charset="0"/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288865"/>
              </p:ext>
            </p:extLst>
          </p:nvPr>
        </p:nvGraphicFramePr>
        <p:xfrm>
          <a:off x="653143" y="1845426"/>
          <a:ext cx="10900227" cy="4450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1263"/>
            <a:ext cx="10515600" cy="150588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/>
            <a:r>
              <a:rPr lang="en-US" sz="4800" b="1" dirty="0" err="1">
                <a:latin typeface="Avenir Black" panose="02000503020000020003" pitchFamily="2" charset="0"/>
              </a:rPr>
              <a:t>Composición</a:t>
            </a:r>
            <a:r>
              <a:rPr lang="en-US" sz="4800" b="1" dirty="0">
                <a:latin typeface="Avenir Black" panose="02000503020000020003" pitchFamily="2" charset="0"/>
              </a:rPr>
              <a:t> de </a:t>
            </a:r>
            <a:r>
              <a:rPr lang="en-US" sz="4800" b="1" dirty="0" err="1">
                <a:latin typeface="Avenir Black" panose="02000503020000020003" pitchFamily="2" charset="0"/>
              </a:rPr>
              <a:t>Versiones</a:t>
            </a:r>
            <a:r>
              <a:rPr lang="en-US" sz="4800" b="1" dirty="0">
                <a:latin typeface="Avenir Black" panose="02000503020000020003" pitchFamily="2" charset="0"/>
              </a:rPr>
              <a:t> </a:t>
            </a:r>
            <a:r>
              <a:rPr lang="en-US" sz="4800" b="1" dirty="0" err="1">
                <a:latin typeface="Avenir Black" panose="02000503020000020003" pitchFamily="2" charset="0"/>
              </a:rPr>
              <a:t>por</a:t>
            </a:r>
            <a:r>
              <a:rPr lang="en-US" sz="4800" b="1" dirty="0">
                <a:latin typeface="Avenir Black" panose="02000503020000020003" pitchFamily="2" charset="0"/>
              </a:rPr>
              <a:t> </a:t>
            </a:r>
            <a:r>
              <a:rPr lang="en-US" sz="4800" b="1" dirty="0" err="1">
                <a:latin typeface="Avenir Black" panose="02000503020000020003" pitchFamily="2" charset="0"/>
              </a:rPr>
              <a:t>Segmento</a:t>
            </a:r>
            <a:r>
              <a:rPr lang="en-US" sz="4800" b="1" dirty="0">
                <a:latin typeface="Avenir Black" panose="02000503020000020003" pitchFamily="2" charset="0"/>
              </a:rPr>
              <a:t> (</a:t>
            </a:r>
            <a:r>
              <a:rPr lang="en-US" sz="4800" b="1" dirty="0" err="1">
                <a:latin typeface="Avenir Black" panose="02000503020000020003" pitchFamily="2" charset="0"/>
              </a:rPr>
              <a:t>Detalle</a:t>
            </a:r>
            <a:r>
              <a:rPr lang="en-US" sz="4800" b="1" dirty="0">
                <a:latin typeface="Avenir Black" panose="02000503020000020003" pitchFamily="2" charset="0"/>
              </a:rPr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666611"/>
              </p:ext>
            </p:extLst>
          </p:nvPr>
        </p:nvGraphicFramePr>
        <p:xfrm>
          <a:off x="967491" y="2063137"/>
          <a:ext cx="10253965" cy="343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1388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3000" b="1" i="0" dirty="0" err="1">
                          <a:latin typeface="Avenir Medium" panose="02000503020000020003" pitchFamily="2" charset="0"/>
                        </a:rPr>
                        <a:t>Segmento</a:t>
                      </a:r>
                      <a:endParaRPr lang="en-US" sz="3000" b="1" i="0" dirty="0">
                        <a:latin typeface="Avenir Medium" panose="02000503020000020003" pitchFamily="2" charset="0"/>
                      </a:endParaRPr>
                    </a:p>
                  </a:txBody>
                  <a:tcPr marL="242682" marR="242682" marT="121340" marB="12134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3000" b="1" i="0" dirty="0">
                          <a:latin typeface="Avenir Medium" panose="02000503020000020003" pitchFamily="2" charset="0"/>
                        </a:rPr>
                        <a:t>Chevrolet</a:t>
                      </a:r>
                    </a:p>
                  </a:txBody>
                  <a:tcPr marL="242682" marR="242682" marT="121340" marB="121340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1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Coupé</a:t>
                      </a:r>
                    </a:p>
                  </a:txBody>
                  <a:tcPr marL="242682" marR="242682" marT="121340" marB="12134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3</a:t>
                      </a:r>
                    </a:p>
                  </a:txBody>
                  <a:tcPr marL="242682" marR="242682" marT="121340" marB="1213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1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Hatchback</a:t>
                      </a:r>
                    </a:p>
                  </a:txBody>
                  <a:tcPr marL="242682" marR="242682" marT="121340" marB="12134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>
                          <a:latin typeface="Avenir Light" panose="020B0402020203020204" pitchFamily="34" charset="77"/>
                        </a:rPr>
                        <a:t>4</a:t>
                      </a:r>
                    </a:p>
                  </a:txBody>
                  <a:tcPr marL="242682" marR="242682" marT="121340" marB="1213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1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Minivan</a:t>
                      </a:r>
                    </a:p>
                  </a:txBody>
                  <a:tcPr marL="242682" marR="242682" marT="121340" marB="12134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>
                          <a:latin typeface="Avenir Light" panose="020B0402020203020204" pitchFamily="34" charset="77"/>
                        </a:rPr>
                        <a:t>2</a:t>
                      </a:r>
                    </a:p>
                  </a:txBody>
                  <a:tcPr marL="242682" marR="242682" marT="121340" marB="12134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1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>
                          <a:latin typeface="Avenir Light" panose="020B0402020203020204" pitchFamily="34" charset="77"/>
                        </a:rPr>
                        <a:t>Pick up</a:t>
                      </a:r>
                    </a:p>
                  </a:txBody>
                  <a:tcPr marL="242682" marR="242682" marT="121340" marB="12134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3</a:t>
                      </a:r>
                    </a:p>
                  </a:txBody>
                  <a:tcPr marL="242682" marR="242682" marT="121340" marB="12134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1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SUV</a:t>
                      </a:r>
                    </a:p>
                  </a:txBody>
                  <a:tcPr marL="242682" marR="242682" marT="121340" marB="12134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3</a:t>
                      </a:r>
                    </a:p>
                  </a:txBody>
                  <a:tcPr marL="242682" marR="242682" marT="121340" marB="12134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753" y="43760"/>
            <a:ext cx="10515600" cy="10285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300" b="1" dirty="0" err="1">
                <a:latin typeface="Avenir Black" panose="02000503020000020003" pitchFamily="2" charset="0"/>
              </a:rPr>
              <a:t>Precios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por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Segmento</a:t>
            </a:r>
            <a:endParaRPr lang="en-US" sz="4300" b="1" dirty="0">
              <a:latin typeface="Avenir Black" panose="02000503020000020003" pitchFamily="2" charset="0"/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218649"/>
              </p:ext>
            </p:extLst>
          </p:nvPr>
        </p:nvGraphicFramePr>
        <p:xfrm>
          <a:off x="391886" y="1407887"/>
          <a:ext cx="11190513" cy="4931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590665"/>
              </p:ext>
            </p:extLst>
          </p:nvPr>
        </p:nvGraphicFramePr>
        <p:xfrm>
          <a:off x="333831" y="2076339"/>
          <a:ext cx="11524343" cy="294716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530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7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1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8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1377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3000" b="0" i="0" dirty="0" err="1">
                          <a:solidFill>
                            <a:schemeClr val="bg1"/>
                          </a:solidFill>
                          <a:latin typeface="Avenir Medium" panose="02000503020000020003" pitchFamily="2" charset="0"/>
                        </a:rPr>
                        <a:t>Segmento</a:t>
                      </a:r>
                      <a:endParaRPr lang="en-US" sz="3000" b="0" i="0" dirty="0">
                        <a:solidFill>
                          <a:schemeClr val="bg1"/>
                        </a:solidFill>
                        <a:latin typeface="Avenir Medium" panose="02000503020000020003" pitchFamily="2" charset="0"/>
                      </a:endParaRPr>
                    </a:p>
                  </a:txBody>
                  <a:tcPr marL="148359" marR="148359" marT="74179" marB="74179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3000" b="0" i="0" dirty="0" err="1">
                          <a:solidFill>
                            <a:schemeClr val="bg1"/>
                          </a:solidFill>
                          <a:latin typeface="Avenir Medium" panose="02000503020000020003" pitchFamily="2" charset="0"/>
                        </a:rPr>
                        <a:t>Mínimo</a:t>
                      </a:r>
                      <a:endParaRPr lang="en-US" sz="3000" b="0" i="0" dirty="0">
                        <a:solidFill>
                          <a:schemeClr val="bg1"/>
                        </a:solidFill>
                        <a:latin typeface="Avenir Medium" panose="02000503020000020003" pitchFamily="2" charset="0"/>
                      </a:endParaRPr>
                    </a:p>
                  </a:txBody>
                  <a:tcPr marL="148359" marR="148359" marT="74179" marB="74179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3000" b="0" i="0" dirty="0" err="1">
                          <a:solidFill>
                            <a:schemeClr val="bg1"/>
                          </a:solidFill>
                          <a:latin typeface="Avenir Medium" panose="02000503020000020003" pitchFamily="2" charset="0"/>
                        </a:rPr>
                        <a:t>Promedio</a:t>
                      </a:r>
                      <a:endParaRPr lang="en-US" sz="3000" b="0" i="0" dirty="0">
                        <a:solidFill>
                          <a:schemeClr val="bg1"/>
                        </a:solidFill>
                        <a:latin typeface="Avenir Medium" panose="02000503020000020003" pitchFamily="2" charset="0"/>
                      </a:endParaRPr>
                    </a:p>
                  </a:txBody>
                  <a:tcPr marL="148359" marR="148359" marT="74179" marB="74179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3000" b="0" i="0" dirty="0">
                          <a:solidFill>
                            <a:schemeClr val="bg1"/>
                          </a:solidFill>
                          <a:latin typeface="Avenir Medium" panose="02000503020000020003" pitchFamily="2" charset="0"/>
                        </a:rPr>
                        <a:t>Máximo</a:t>
                      </a:r>
                    </a:p>
                  </a:txBody>
                  <a:tcPr marL="148359" marR="148359" marT="74179" marB="74179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3000" b="0" i="0" dirty="0">
                          <a:solidFill>
                            <a:schemeClr val="bg1"/>
                          </a:solidFill>
                          <a:latin typeface="Avenir Medium" panose="02000503020000020003" pitchFamily="2" charset="0"/>
                        </a:rPr>
                        <a:t> </a:t>
                      </a:r>
                      <a:r>
                        <a:rPr lang="en-US" sz="3000" b="0" i="0" dirty="0" err="1">
                          <a:solidFill>
                            <a:schemeClr val="bg1"/>
                          </a:solidFill>
                          <a:latin typeface="Avenir Medium" panose="02000503020000020003" pitchFamily="2" charset="0"/>
                        </a:rPr>
                        <a:t>Versiones</a:t>
                      </a:r>
                      <a:endParaRPr lang="en-US" sz="3000" b="0" i="0" dirty="0">
                        <a:solidFill>
                          <a:schemeClr val="bg1"/>
                        </a:solidFill>
                        <a:latin typeface="Avenir Medium" panose="02000503020000020003" pitchFamily="2" charset="0"/>
                      </a:endParaRPr>
                    </a:p>
                  </a:txBody>
                  <a:tcPr marL="148359" marR="148359" marT="74179" marB="74179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66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SUV</a:t>
                      </a:r>
                    </a:p>
                  </a:txBody>
                  <a:tcPr marL="148359" marR="148359" marT="74179" marB="74179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$ 17.840.000</a:t>
                      </a:r>
                    </a:p>
                  </a:txBody>
                  <a:tcPr marL="148359" marR="148359" marT="74179" marB="74179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$ 18.246.667</a:t>
                      </a:r>
                    </a:p>
                  </a:txBody>
                  <a:tcPr marL="148359" marR="148359" marT="74179" marB="74179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$ 18.940.000</a:t>
                      </a:r>
                    </a:p>
                  </a:txBody>
                  <a:tcPr marL="148359" marR="148359" marT="74179" marB="74179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3</a:t>
                      </a:r>
                    </a:p>
                  </a:txBody>
                  <a:tcPr marL="148359" marR="148359" marT="74179" marB="74179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66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Pick up</a:t>
                      </a:r>
                    </a:p>
                  </a:txBody>
                  <a:tcPr marL="148359" marR="148359" marT="74179" marB="74179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$ 42.460.000</a:t>
                      </a:r>
                    </a:p>
                  </a:txBody>
                  <a:tcPr marL="148359" marR="148359" marT="74179" marB="74179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$ 43.343.333</a:t>
                      </a:r>
                    </a:p>
                  </a:txBody>
                  <a:tcPr marL="148359" marR="148359" marT="74179" marB="74179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$ 44.600.000</a:t>
                      </a:r>
                    </a:p>
                  </a:txBody>
                  <a:tcPr marL="148359" marR="148359" marT="74179" marB="74179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3</a:t>
                      </a:r>
                    </a:p>
                  </a:txBody>
                  <a:tcPr marL="148359" marR="148359" marT="74179" marB="74179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668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Hatchback</a:t>
                      </a:r>
                    </a:p>
                  </a:txBody>
                  <a:tcPr marL="148359" marR="148359" marT="74179" marB="74179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$ 12.400.000</a:t>
                      </a:r>
                    </a:p>
                  </a:txBody>
                  <a:tcPr marL="148359" marR="148359" marT="74179" marB="74179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$ 13.125.000</a:t>
                      </a:r>
                    </a:p>
                  </a:txBody>
                  <a:tcPr marL="148359" marR="148359" marT="74179" marB="74179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$ 13.650.000</a:t>
                      </a:r>
                    </a:p>
                  </a:txBody>
                  <a:tcPr marL="148359" marR="148359" marT="74179" marB="74179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148359" marR="148359" marT="74179" marB="74179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66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Coupé</a:t>
                      </a:r>
                    </a:p>
                  </a:txBody>
                  <a:tcPr marL="148359" marR="148359" marT="74179" marB="74179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$ 45.270.000</a:t>
                      </a:r>
                    </a:p>
                  </a:txBody>
                  <a:tcPr marL="148359" marR="148359" marT="74179" marB="74179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$ 46.026.667</a:t>
                      </a:r>
                    </a:p>
                  </a:txBody>
                  <a:tcPr marL="148359" marR="148359" marT="74179" marB="74179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$ 46.820.000</a:t>
                      </a:r>
                    </a:p>
                  </a:txBody>
                  <a:tcPr marL="148359" marR="148359" marT="74179" marB="74179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3</a:t>
                      </a:r>
                    </a:p>
                  </a:txBody>
                  <a:tcPr marL="148359" marR="148359" marT="74179" marB="74179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66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Minivan</a:t>
                      </a:r>
                    </a:p>
                  </a:txBody>
                  <a:tcPr marL="148359" marR="148359" marT="74179" marB="74179">
                    <a:solidFill>
                      <a:srgbClr val="D1D9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$ 14.440.000</a:t>
                      </a:r>
                    </a:p>
                  </a:txBody>
                  <a:tcPr marL="148359" marR="148359" marT="74179" marB="74179">
                    <a:solidFill>
                      <a:srgbClr val="D1D9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$ 14.745.000</a:t>
                      </a:r>
                    </a:p>
                  </a:txBody>
                  <a:tcPr marL="148359" marR="148359" marT="74179" marB="74179">
                    <a:solidFill>
                      <a:srgbClr val="D1D9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$ 15.050.000</a:t>
                      </a:r>
                    </a:p>
                  </a:txBody>
                  <a:tcPr marL="148359" marR="148359" marT="74179" marB="74179">
                    <a:solidFill>
                      <a:srgbClr val="D1D9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2</a:t>
                      </a:r>
                    </a:p>
                  </a:txBody>
                  <a:tcPr marL="148359" marR="148359" marT="74179" marB="74179">
                    <a:solidFill>
                      <a:srgbClr val="D1D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37498206-AE1B-D6D4-6CD4-76661C3C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53" y="43760"/>
            <a:ext cx="10515600" cy="10285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300" b="1" dirty="0" err="1">
                <a:latin typeface="Avenir Black" panose="02000503020000020003" pitchFamily="2" charset="0"/>
              </a:rPr>
              <a:t>Precios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por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Segmento</a:t>
            </a:r>
            <a:endParaRPr lang="en-US" sz="4300" b="1" dirty="0">
              <a:latin typeface="Avenir Black" panose="02000503020000020003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6749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300" b="1" dirty="0" err="1">
                <a:latin typeface="Avenir Black" panose="02000503020000020003" pitchFamily="2" charset="0"/>
              </a:rPr>
              <a:t>Estructura</a:t>
            </a:r>
            <a:r>
              <a:rPr lang="en-US" sz="4300" b="1" dirty="0">
                <a:latin typeface="Avenir Black" panose="02000503020000020003" pitchFamily="2" charset="0"/>
              </a:rPr>
              <a:t> de </a:t>
            </a:r>
            <a:r>
              <a:rPr lang="en-US" sz="4300" b="1" dirty="0" err="1">
                <a:latin typeface="Avenir Black" panose="02000503020000020003" pitchFamily="2" charset="0"/>
              </a:rPr>
              <a:t>Precios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por</a:t>
            </a:r>
            <a:r>
              <a:rPr lang="en-US" sz="4300" b="1" dirty="0">
                <a:latin typeface="Avenir Black" panose="02000503020000020003" pitchFamily="2" charset="0"/>
              </a:rPr>
              <a:t>         </a:t>
            </a:r>
            <a:r>
              <a:rPr lang="en-US" sz="4300" b="1" dirty="0" err="1">
                <a:latin typeface="Avenir Black" panose="02000503020000020003" pitchFamily="2" charset="0"/>
              </a:rPr>
              <a:t>Segmento</a:t>
            </a:r>
            <a:r>
              <a:rPr lang="en-US" sz="4300" b="1" dirty="0">
                <a:latin typeface="Avenir Black" panose="02000503020000020003" pitchFamily="2" charset="0"/>
              </a:rPr>
              <a:t> &amp; Marca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575079"/>
              </p:ext>
            </p:extLst>
          </p:nvPr>
        </p:nvGraphicFramePr>
        <p:xfrm>
          <a:off x="406400" y="1759382"/>
          <a:ext cx="11393714" cy="45363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6749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300" b="1" dirty="0" err="1">
                <a:latin typeface="Avenir Black" panose="02000503020000020003" pitchFamily="2" charset="0"/>
              </a:rPr>
              <a:t>Estructura</a:t>
            </a:r>
            <a:r>
              <a:rPr lang="en-US" sz="4300" b="1" dirty="0">
                <a:latin typeface="Avenir Black" panose="02000503020000020003" pitchFamily="2" charset="0"/>
              </a:rPr>
              <a:t> de </a:t>
            </a:r>
            <a:r>
              <a:rPr lang="en-US" sz="4300" b="1" dirty="0" err="1">
                <a:latin typeface="Avenir Black" panose="02000503020000020003" pitchFamily="2" charset="0"/>
              </a:rPr>
              <a:t>Precios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por</a:t>
            </a:r>
            <a:r>
              <a:rPr lang="en-US" sz="4300" b="1" dirty="0">
                <a:latin typeface="Avenir Black" panose="02000503020000020003" pitchFamily="2" charset="0"/>
              </a:rPr>
              <a:t>        </a:t>
            </a:r>
            <a:r>
              <a:rPr lang="en-US" sz="4300" b="1" dirty="0" err="1">
                <a:latin typeface="Avenir Black" panose="02000503020000020003" pitchFamily="2" charset="0"/>
              </a:rPr>
              <a:t>Segmento</a:t>
            </a:r>
            <a:r>
              <a:rPr lang="en-US" sz="4300" b="1" dirty="0">
                <a:latin typeface="Avenir Black" panose="02000503020000020003" pitchFamily="2" charset="0"/>
              </a:rPr>
              <a:t> &amp; Marca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76485"/>
              </p:ext>
            </p:extLst>
          </p:nvPr>
        </p:nvGraphicFramePr>
        <p:xfrm>
          <a:off x="653143" y="2063136"/>
          <a:ext cx="10885714" cy="3507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4235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3000" b="0" i="0" dirty="0" err="1">
                          <a:latin typeface="Avenir Medium" panose="02000503020000020003" pitchFamily="2" charset="0"/>
                        </a:rPr>
                        <a:t>Segmento</a:t>
                      </a:r>
                      <a:r>
                        <a:rPr lang="en-US" sz="3000" b="0" i="0" dirty="0">
                          <a:latin typeface="Avenir Medium" panose="02000503020000020003" pitchFamily="2" charset="0"/>
                        </a:rPr>
                        <a:t> - Marca</a:t>
                      </a:r>
                    </a:p>
                  </a:txBody>
                  <a:tcPr marL="205226" marR="205226" marT="102613" marB="1026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3000" b="0" i="0" dirty="0" err="1">
                          <a:latin typeface="Avenir Medium" panose="02000503020000020003" pitchFamily="2" charset="0"/>
                        </a:rPr>
                        <a:t>Precio</a:t>
                      </a:r>
                      <a:r>
                        <a:rPr lang="en-US" sz="3000" b="0" i="0" dirty="0">
                          <a:latin typeface="Avenir Medium" panose="02000503020000020003" pitchFamily="2" charset="0"/>
                        </a:rPr>
                        <a:t> </a:t>
                      </a:r>
                      <a:r>
                        <a:rPr lang="en-US" sz="3000" b="0" i="0" dirty="0" err="1">
                          <a:latin typeface="Avenir Medium" panose="02000503020000020003" pitchFamily="2" charset="0"/>
                        </a:rPr>
                        <a:t>Promedio</a:t>
                      </a:r>
                      <a:endParaRPr lang="en-US" sz="3000" b="0" i="0" dirty="0">
                        <a:latin typeface="Avenir Medium" panose="02000503020000020003" pitchFamily="2" charset="0"/>
                      </a:endParaRPr>
                    </a:p>
                  </a:txBody>
                  <a:tcPr marL="205226" marR="205226" marT="102613" marB="1026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3000" b="0" i="0" dirty="0" err="1">
                          <a:latin typeface="Avenir Medium" panose="02000503020000020003" pitchFamily="2" charset="0"/>
                        </a:rPr>
                        <a:t>Versiones</a:t>
                      </a:r>
                      <a:endParaRPr lang="en-US" sz="3000" b="0" i="0" dirty="0">
                        <a:latin typeface="Avenir Medium" panose="02000503020000020003" pitchFamily="2" charset="0"/>
                      </a:endParaRPr>
                    </a:p>
                  </a:txBody>
                  <a:tcPr marL="205226" marR="205226" marT="102613" marB="102613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59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Coupé - Chevrolet</a:t>
                      </a:r>
                    </a:p>
                  </a:txBody>
                  <a:tcPr marL="205226" marR="205226" marT="102613" marB="102613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$ 46.026.667</a:t>
                      </a:r>
                    </a:p>
                  </a:txBody>
                  <a:tcPr marL="205226" marR="205226" marT="102613" marB="102613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>
                          <a:latin typeface="Avenir Light" panose="020B0402020203020204" pitchFamily="34" charset="77"/>
                        </a:rPr>
                        <a:t>3</a:t>
                      </a:r>
                    </a:p>
                  </a:txBody>
                  <a:tcPr marL="205226" marR="205226" marT="102613" marB="1026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59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Hatchback - Chevrolet</a:t>
                      </a:r>
                    </a:p>
                  </a:txBody>
                  <a:tcPr marL="205226" marR="205226" marT="102613" marB="102613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$ 13.125.000</a:t>
                      </a:r>
                    </a:p>
                  </a:txBody>
                  <a:tcPr marL="205226" marR="205226" marT="102613" marB="102613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4</a:t>
                      </a:r>
                    </a:p>
                  </a:txBody>
                  <a:tcPr marL="205226" marR="205226" marT="102613" marB="1026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59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Minivan - Chevrolet</a:t>
                      </a:r>
                    </a:p>
                  </a:txBody>
                  <a:tcPr marL="205226" marR="205226" marT="102613" marB="102613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$ 14.745.000</a:t>
                      </a:r>
                    </a:p>
                  </a:txBody>
                  <a:tcPr marL="205226" marR="205226" marT="102613" marB="102613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2</a:t>
                      </a:r>
                    </a:p>
                  </a:txBody>
                  <a:tcPr marL="205226" marR="205226" marT="102613" marB="1026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59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Pick up - Chevrolet</a:t>
                      </a:r>
                    </a:p>
                  </a:txBody>
                  <a:tcPr marL="205226" marR="205226" marT="102613" marB="102613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$ 43.343.333</a:t>
                      </a:r>
                    </a:p>
                  </a:txBody>
                  <a:tcPr marL="205226" marR="205226" marT="102613" marB="102613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3</a:t>
                      </a:r>
                    </a:p>
                  </a:txBody>
                  <a:tcPr marL="205226" marR="205226" marT="102613" marB="10261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59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SUV - Chevrolet</a:t>
                      </a:r>
                    </a:p>
                  </a:txBody>
                  <a:tcPr marL="205226" marR="205226" marT="102613" marB="102613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$ 18.246.667</a:t>
                      </a:r>
                    </a:p>
                  </a:txBody>
                  <a:tcPr marL="205226" marR="205226" marT="102613" marB="102613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2000" b="0" i="0" dirty="0">
                          <a:latin typeface="Avenir Light" panose="020B0402020203020204" pitchFamily="34" charset="77"/>
                        </a:rPr>
                        <a:t>3</a:t>
                      </a:r>
                    </a:p>
                  </a:txBody>
                  <a:tcPr marL="205226" marR="205226" marT="102613" marB="10261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623"/>
            <a:ext cx="10515600" cy="10285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300" b="1" dirty="0" err="1">
                <a:latin typeface="Avenir Black" panose="02000503020000020003" pitchFamily="2" charset="0"/>
              </a:rPr>
              <a:t>Matriz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Precio</a:t>
            </a:r>
            <a:r>
              <a:rPr lang="en-US" sz="4300" b="1" dirty="0">
                <a:latin typeface="Avenir Black" panose="02000503020000020003" pitchFamily="2" charset="0"/>
              </a:rPr>
              <a:t> vs </a:t>
            </a:r>
            <a:r>
              <a:rPr lang="en-US" sz="4300" b="1" dirty="0" err="1">
                <a:latin typeface="Avenir Black" panose="02000503020000020003" pitchFamily="2" charset="0"/>
              </a:rPr>
              <a:t>Volumen</a:t>
            </a:r>
            <a:endParaRPr lang="en-US" sz="4300" b="1" dirty="0">
              <a:latin typeface="Avenir Black" panose="02000503020000020003" pitchFamily="2" charset="0"/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893982"/>
              </p:ext>
            </p:extLst>
          </p:nvPr>
        </p:nvGraphicFramePr>
        <p:xfrm>
          <a:off x="391886" y="1845426"/>
          <a:ext cx="11408228" cy="4450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9877"/>
            <a:ext cx="10515600" cy="8500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300" b="1" dirty="0" err="1">
                <a:latin typeface="Avenir Black" panose="02000503020000020003" pitchFamily="2" charset="0"/>
              </a:rPr>
              <a:t>Matriz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Precio</a:t>
            </a:r>
            <a:r>
              <a:rPr lang="en-US" sz="4300" b="1" dirty="0">
                <a:latin typeface="Avenir Black" panose="02000503020000020003" pitchFamily="2" charset="0"/>
              </a:rPr>
              <a:t> vs </a:t>
            </a:r>
            <a:r>
              <a:rPr lang="en-US" sz="4300" b="1" dirty="0" err="1">
                <a:latin typeface="Avenir Black" panose="02000503020000020003" pitchFamily="2" charset="0"/>
              </a:rPr>
              <a:t>Volumen</a:t>
            </a:r>
            <a:endParaRPr lang="en-US" sz="4300" b="1" dirty="0">
              <a:latin typeface="Avenir Black" panose="02000503020000020003" pitchFamily="2" charset="0"/>
            </a:endParaRP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784633EF-3891-8C5A-790C-6A1FA49AA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840713"/>
              </p:ext>
            </p:extLst>
          </p:nvPr>
        </p:nvGraphicFramePr>
        <p:xfrm>
          <a:off x="838200" y="2063705"/>
          <a:ext cx="10877785" cy="4450306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4160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2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4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6491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s-CL" sz="3000" b="0" i="0" kern="1200" dirty="0">
                          <a:solidFill>
                            <a:srgbClr val="FFFFFF"/>
                          </a:solidFill>
                          <a:latin typeface="Avenir Medium" panose="02000503020000020003" pitchFamily="2" charset="0"/>
                          <a:ea typeface="+mn-ea"/>
                          <a:cs typeface="+mn-cs"/>
                        </a:rPr>
                        <a:t>Marca - Modelo</a:t>
                      </a:r>
                    </a:p>
                  </a:txBody>
                  <a:tcPr marL="197969" marR="197969" marT="197969" marB="9898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s-CL" sz="3000" b="0" i="0" cap="none" spc="0" dirty="0">
                          <a:solidFill>
                            <a:schemeClr val="bg1"/>
                          </a:solidFill>
                          <a:latin typeface="Avenir Medium" panose="02000503020000020003" pitchFamily="2" charset="0"/>
                        </a:rPr>
                        <a:t>Volumen</a:t>
                      </a:r>
                    </a:p>
                  </a:txBody>
                  <a:tcPr marL="197969" marR="197969" marT="197969" marB="9898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s-CL" sz="3000" b="0" i="0" cap="none" spc="0" dirty="0">
                          <a:solidFill>
                            <a:schemeClr val="bg1"/>
                          </a:solidFill>
                          <a:latin typeface="Avenir Medium" panose="02000503020000020003" pitchFamily="2" charset="0"/>
                        </a:rPr>
                        <a:t>Precio Promedio</a:t>
                      </a:r>
                    </a:p>
                  </a:txBody>
                  <a:tcPr marL="197969" marR="197969" marT="197969" marB="9898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763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s-CL" sz="20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Chevrolet </a:t>
                      </a:r>
                      <a:r>
                        <a:rPr lang="es-CL" sz="2000" b="0" i="0" kern="1200" dirty="0" err="1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Onix</a:t>
                      </a:r>
                      <a:endParaRPr lang="es-CL" sz="2000" b="0" i="0" kern="1200" dirty="0">
                        <a:solidFill>
                          <a:schemeClr val="dk1"/>
                        </a:solidFill>
                        <a:latin typeface="Avenir Light" panose="020B0402020203020204" pitchFamily="34" charset="77"/>
                        <a:ea typeface="+mn-ea"/>
                        <a:cs typeface="+mn-cs"/>
                      </a:endParaRPr>
                    </a:p>
                  </a:txBody>
                  <a:tcPr marL="197969" marR="197969" marT="197969" marB="989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s-CL" sz="20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197969" marR="197969" marT="197969" marB="989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s-CL" sz="20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$ 13.125.000</a:t>
                      </a:r>
                    </a:p>
                  </a:txBody>
                  <a:tcPr marL="197969" marR="197969" marT="197969" marB="989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763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s-CL" sz="20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Chevrolet </a:t>
                      </a:r>
                      <a:r>
                        <a:rPr lang="es-CL" sz="2000" b="0" i="0" kern="1200" dirty="0" err="1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Tracker</a:t>
                      </a:r>
                      <a:endParaRPr lang="es-CL" sz="2000" b="0" i="0" kern="1200" dirty="0">
                        <a:solidFill>
                          <a:schemeClr val="dk1"/>
                        </a:solidFill>
                        <a:latin typeface="Avenir Light" panose="020B0402020203020204" pitchFamily="34" charset="77"/>
                        <a:ea typeface="+mn-ea"/>
                        <a:cs typeface="+mn-cs"/>
                      </a:endParaRPr>
                    </a:p>
                  </a:txBody>
                  <a:tcPr marL="197969" marR="197969" marT="197969" marB="989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E9EDF4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s-CL" sz="20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97969" marR="197969" marT="197969" marB="989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E9EDF4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s-CL" sz="20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$ 18.246.667</a:t>
                      </a:r>
                    </a:p>
                  </a:txBody>
                  <a:tcPr marL="197969" marR="197969" marT="197969" marB="989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E9EDF4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763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s-CL" sz="20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Chevrolet Silverado</a:t>
                      </a:r>
                    </a:p>
                  </a:txBody>
                  <a:tcPr marL="197969" marR="197969" marT="197969" marB="989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D1D9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s-CL" sz="20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97969" marR="197969" marT="197969" marB="989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D1D9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s-CL" sz="20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$ 43.343.333</a:t>
                      </a:r>
                    </a:p>
                  </a:txBody>
                  <a:tcPr marL="197969" marR="197969" marT="197969" marB="989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D1D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763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s-CL" sz="20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Chevrolet Camaro</a:t>
                      </a:r>
                    </a:p>
                  </a:txBody>
                  <a:tcPr marL="197969" marR="197969" marT="197969" marB="989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E9EDF4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s-CL" sz="20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97969" marR="197969" marT="197969" marB="989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E9EDF4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s-CL" sz="20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$ 46.026.667</a:t>
                      </a:r>
                    </a:p>
                  </a:txBody>
                  <a:tcPr marL="197969" marR="197969" marT="197969" marB="989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E9EDF4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763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s-CL" sz="20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Chevrolet Spin</a:t>
                      </a:r>
                    </a:p>
                  </a:txBody>
                  <a:tcPr marL="197969" marR="197969" marT="197969" marB="989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1D9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s-CL" sz="20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97969" marR="197969" marT="197969" marB="989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1D9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es-CL" sz="20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$ 14.745.000</a:t>
                      </a:r>
                    </a:p>
                  </a:txBody>
                  <a:tcPr marL="197969" marR="197969" marT="197969" marB="989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1D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323094"/>
              </p:ext>
            </p:extLst>
          </p:nvPr>
        </p:nvGraphicFramePr>
        <p:xfrm>
          <a:off x="638630" y="1845426"/>
          <a:ext cx="10958284" cy="4450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7518F827-FD44-593E-8CF9-BBCE859EE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1" y="178899"/>
            <a:ext cx="11117943" cy="8500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300" b="1" dirty="0">
                <a:latin typeface="Avenir Black" panose="02000503020000020003" pitchFamily="2" charset="0"/>
              </a:rPr>
              <a:t>Benchmarking de </a:t>
            </a:r>
            <a:r>
              <a:rPr lang="en-US" sz="4300" b="1" dirty="0" err="1">
                <a:latin typeface="Avenir Black" panose="02000503020000020003" pitchFamily="2" charset="0"/>
              </a:rPr>
              <a:t>Precios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por</a:t>
            </a:r>
            <a:r>
              <a:rPr lang="en-US" sz="4300" b="1" dirty="0">
                <a:latin typeface="Avenir Black" panose="02000503020000020003" pitchFamily="2" charset="0"/>
              </a:rPr>
              <a:t> Marca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971" y="178899"/>
            <a:ext cx="11117943" cy="8500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300" b="1" dirty="0">
                <a:latin typeface="Avenir Black" panose="02000503020000020003" pitchFamily="2" charset="0"/>
              </a:rPr>
              <a:t>Benchmarking de </a:t>
            </a:r>
            <a:r>
              <a:rPr lang="en-US" sz="4300" b="1" dirty="0" err="1">
                <a:latin typeface="Avenir Black" panose="02000503020000020003" pitchFamily="2" charset="0"/>
              </a:rPr>
              <a:t>Precios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por</a:t>
            </a:r>
            <a:r>
              <a:rPr lang="en-US" sz="4300" b="1" dirty="0">
                <a:latin typeface="Avenir Black" panose="02000503020000020003" pitchFamily="2" charset="0"/>
              </a:rPr>
              <a:t> Marca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397406"/>
              </p:ext>
            </p:extLst>
          </p:nvPr>
        </p:nvGraphicFramePr>
        <p:xfrm>
          <a:off x="838200" y="3240264"/>
          <a:ext cx="10512548" cy="1660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2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1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5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79105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3200" b="0" i="0" dirty="0">
                          <a:latin typeface="Avenir Medium" panose="02000503020000020003" pitchFamily="2" charset="0"/>
                        </a:rPr>
                        <a:t>Marca</a:t>
                      </a:r>
                    </a:p>
                  </a:txBody>
                  <a:tcPr marL="163735" marR="163735" marT="81868" marB="8186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3200" b="0" i="0" dirty="0" err="1">
                          <a:latin typeface="Avenir Medium" panose="02000503020000020003" pitchFamily="2" charset="0"/>
                        </a:rPr>
                        <a:t>Precio</a:t>
                      </a:r>
                      <a:r>
                        <a:rPr lang="en-US" sz="3200" b="0" i="0" dirty="0">
                          <a:latin typeface="Avenir Medium" panose="02000503020000020003" pitchFamily="2" charset="0"/>
                        </a:rPr>
                        <a:t> </a:t>
                      </a:r>
                      <a:r>
                        <a:rPr lang="en-US" sz="3200" b="0" i="0" dirty="0" err="1">
                          <a:latin typeface="Avenir Medium" panose="02000503020000020003" pitchFamily="2" charset="0"/>
                        </a:rPr>
                        <a:t>Promedio</a:t>
                      </a:r>
                      <a:endParaRPr lang="en-US" sz="3200" b="0" i="0" dirty="0">
                        <a:latin typeface="Avenir Medium" panose="02000503020000020003" pitchFamily="2" charset="0"/>
                      </a:endParaRPr>
                    </a:p>
                  </a:txBody>
                  <a:tcPr marL="163735" marR="163735" marT="81868" marB="8186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3200" b="0" i="0" dirty="0" err="1">
                          <a:latin typeface="Avenir Medium" panose="02000503020000020003" pitchFamily="2" charset="0"/>
                        </a:rPr>
                        <a:t>Precio</a:t>
                      </a:r>
                      <a:r>
                        <a:rPr lang="en-US" sz="3200" b="0" i="0" dirty="0">
                          <a:latin typeface="Avenir Medium" panose="02000503020000020003" pitchFamily="2" charset="0"/>
                        </a:rPr>
                        <a:t> </a:t>
                      </a:r>
                      <a:r>
                        <a:rPr lang="en-US" sz="3200" b="0" i="0" dirty="0" err="1">
                          <a:latin typeface="Avenir Medium" panose="02000503020000020003" pitchFamily="2" charset="0"/>
                        </a:rPr>
                        <a:t>Mínimo</a:t>
                      </a:r>
                      <a:endParaRPr lang="en-US" sz="3200" b="0" i="0" dirty="0">
                        <a:latin typeface="Avenir Medium" panose="02000503020000020003" pitchFamily="2" charset="0"/>
                      </a:endParaRPr>
                    </a:p>
                  </a:txBody>
                  <a:tcPr marL="163735" marR="163735" marT="81868" marB="8186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3200" b="0" i="0" dirty="0" err="1">
                          <a:latin typeface="Avenir Medium" panose="02000503020000020003" pitchFamily="2" charset="0"/>
                        </a:rPr>
                        <a:t>Precio</a:t>
                      </a:r>
                      <a:r>
                        <a:rPr lang="en-US" sz="3200" b="0" i="0" dirty="0">
                          <a:latin typeface="Avenir Medium" panose="02000503020000020003" pitchFamily="2" charset="0"/>
                        </a:rPr>
                        <a:t> Máximo</a:t>
                      </a:r>
                    </a:p>
                  </a:txBody>
                  <a:tcPr marL="163735" marR="163735" marT="81868" marB="81868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3200" b="0" i="0" dirty="0" err="1">
                          <a:latin typeface="Avenir Medium" panose="02000503020000020003" pitchFamily="2" charset="0"/>
                        </a:rPr>
                        <a:t>Versiones</a:t>
                      </a:r>
                      <a:endParaRPr lang="en-US" sz="3200" b="0" i="0" dirty="0">
                        <a:latin typeface="Avenir Medium" panose="02000503020000020003" pitchFamily="2" charset="0"/>
                      </a:endParaRPr>
                    </a:p>
                  </a:txBody>
                  <a:tcPr marL="163735" marR="163735" marT="81868" marB="81868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800" b="0" i="0" dirty="0">
                          <a:latin typeface="Avenir Light" panose="020B0402020203020204" pitchFamily="34" charset="77"/>
                        </a:rPr>
                        <a:t>Chevrolet</a:t>
                      </a:r>
                    </a:p>
                  </a:txBody>
                  <a:tcPr marL="163735" marR="163735" marT="81868" marB="8186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800" b="0" i="0" dirty="0">
                          <a:latin typeface="Avenir Light" panose="020B0402020203020204" pitchFamily="34" charset="77"/>
                        </a:rPr>
                        <a:t>$ 26.989.333</a:t>
                      </a:r>
                    </a:p>
                  </a:txBody>
                  <a:tcPr marL="163735" marR="163735" marT="81868" marB="8186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800" b="0" i="0" dirty="0">
                          <a:latin typeface="Avenir Light" panose="020B0402020203020204" pitchFamily="34" charset="77"/>
                        </a:rPr>
                        <a:t>$ 12.400.000</a:t>
                      </a:r>
                    </a:p>
                  </a:txBody>
                  <a:tcPr marL="163735" marR="163735" marT="81868" marB="8186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800" b="0" i="0" dirty="0">
                          <a:latin typeface="Avenir Light" panose="020B0402020203020204" pitchFamily="34" charset="77"/>
                        </a:rPr>
                        <a:t>$ 46.820.000</a:t>
                      </a:r>
                    </a:p>
                  </a:txBody>
                  <a:tcPr marL="163735" marR="163735" marT="81868" marB="8186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800" b="0" i="0" dirty="0">
                          <a:latin typeface="Avenir Light" panose="020B0402020203020204" pitchFamily="34" charset="77"/>
                        </a:rPr>
                        <a:t>15</a:t>
                      </a:r>
                    </a:p>
                  </a:txBody>
                  <a:tcPr marL="163735" marR="163735" marT="81868" marB="8186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7578"/>
            <a:ext cx="10515600" cy="13689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300" b="1" dirty="0" err="1">
                <a:latin typeface="Avenir Black" panose="02000503020000020003" pitchFamily="2" charset="0"/>
              </a:rPr>
              <a:t>Tendencia</a:t>
            </a:r>
            <a:r>
              <a:rPr lang="en-US" sz="4300" b="1" dirty="0">
                <a:latin typeface="Avenir Black" panose="02000503020000020003" pitchFamily="2" charset="0"/>
              </a:rPr>
              <a:t> de </a:t>
            </a:r>
            <a:r>
              <a:rPr lang="en-US" sz="4300" b="1" dirty="0" err="1">
                <a:latin typeface="Avenir Black" panose="02000503020000020003" pitchFamily="2" charset="0"/>
              </a:rPr>
              <a:t>Precios</a:t>
            </a:r>
            <a:r>
              <a:rPr lang="en-US" sz="4300" b="1" dirty="0">
                <a:latin typeface="Avenir Black" panose="02000503020000020003" pitchFamily="2" charset="0"/>
              </a:rPr>
              <a:t> Global                (% </a:t>
            </a:r>
            <a:r>
              <a:rPr lang="en-US" sz="4300" b="1" dirty="0" err="1">
                <a:latin typeface="Avenir Black" panose="02000503020000020003" pitchFamily="2" charset="0"/>
              </a:rPr>
              <a:t>Acumulado</a:t>
            </a:r>
            <a:r>
              <a:rPr lang="en-US" sz="4300" b="1" dirty="0">
                <a:latin typeface="Avenir Black" panose="02000503020000020003" pitchFamily="2" charset="0"/>
              </a:rPr>
              <a:t>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400284"/>
              </p:ext>
            </p:extLst>
          </p:nvPr>
        </p:nvGraphicFramePr>
        <p:xfrm>
          <a:off x="638630" y="1845426"/>
          <a:ext cx="10929256" cy="4827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129"/>
            <a:ext cx="10515600" cy="150588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CL" sz="4300" b="1" dirty="0">
                <a:latin typeface="Avenir Black" panose="02000503020000020003" pitchFamily="2" charset="0"/>
              </a:rPr>
              <a:t>Tendencia de Precios Global                 (% Acumulado)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523873"/>
              </p:ext>
            </p:extLst>
          </p:nvPr>
        </p:nvGraphicFramePr>
        <p:xfrm>
          <a:off x="2439571" y="3053561"/>
          <a:ext cx="7981684" cy="1505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3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8423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s-CL" sz="3300" b="0" i="0" dirty="0">
                          <a:latin typeface="Avenir Medium" panose="02000503020000020003" pitchFamily="2" charset="0"/>
                        </a:rPr>
                        <a:t>Marca</a:t>
                      </a:r>
                    </a:p>
                  </a:txBody>
                  <a:tcPr marL="167640" marR="167640" marT="83820" marB="8382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s-CL" sz="3300" b="0" i="0" dirty="0">
                          <a:latin typeface="Avenir Medium" panose="02000503020000020003" pitchFamily="2" charset="0"/>
                        </a:rPr>
                        <a:t>Variación %</a:t>
                      </a:r>
                    </a:p>
                  </a:txBody>
                  <a:tcPr marL="167640" marR="167640" marT="83820" marB="8382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s-CL" sz="3300" b="0" i="0" dirty="0">
                          <a:latin typeface="Avenir Medium" panose="02000503020000020003" pitchFamily="2" charset="0"/>
                        </a:rPr>
                        <a:t>Inicio</a:t>
                      </a:r>
                    </a:p>
                  </a:txBody>
                  <a:tcPr marL="167640" marR="167640" marT="83820" marB="8382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s-CL" sz="3300" b="0" i="0" dirty="0">
                          <a:latin typeface="Avenir Medium" panose="02000503020000020003" pitchFamily="2" charset="0"/>
                        </a:rPr>
                        <a:t>Fin</a:t>
                      </a:r>
                    </a:p>
                  </a:txBody>
                  <a:tcPr marL="167640" marR="167640" marT="83820" marB="83820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4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s-CL" sz="1800" b="0" i="0" dirty="0">
                          <a:latin typeface="Avenir Light" panose="020B0402020203020204" pitchFamily="34" charset="77"/>
                        </a:rPr>
                        <a:t>Chevrolet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s-CL" sz="1800" b="0" i="0">
                          <a:latin typeface="Avenir Light" panose="020B0402020203020204" pitchFamily="34" charset="77"/>
                        </a:rPr>
                        <a:t>-</a:t>
                      </a:r>
                      <a:r>
                        <a:rPr lang="es-CL" sz="1800" b="0" i="0" dirty="0">
                          <a:latin typeface="Avenir Light" panose="020B0402020203020204" pitchFamily="34" charset="77"/>
                        </a:rPr>
                        <a:t>1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s-CL" sz="1800" b="0" i="0" dirty="0">
                          <a:latin typeface="Avenir Light" panose="020B0402020203020204" pitchFamily="34" charset="77"/>
                        </a:rPr>
                        <a:t>2023-01-04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s-CL" sz="1800" b="0" i="0" dirty="0">
                          <a:latin typeface="Avenir Light" panose="020B0402020203020204" pitchFamily="34" charset="77"/>
                        </a:rPr>
                        <a:t>2025-12-25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1262"/>
            <a:ext cx="10515600" cy="15058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300" dirty="0" err="1">
                <a:latin typeface="Avenir Black" panose="02000503020000020003" pitchFamily="2" charset="0"/>
              </a:rPr>
              <a:t>Variaciones</a:t>
            </a:r>
            <a:r>
              <a:rPr lang="en-US" sz="4300" dirty="0">
                <a:latin typeface="Avenir Black" panose="02000503020000020003" pitchFamily="2" charset="0"/>
              </a:rPr>
              <a:t> de </a:t>
            </a:r>
            <a:r>
              <a:rPr lang="en-US" sz="4300" dirty="0" err="1">
                <a:latin typeface="Avenir Black" panose="02000503020000020003" pitchFamily="2" charset="0"/>
              </a:rPr>
              <a:t>precios</a:t>
            </a:r>
            <a:r>
              <a:rPr lang="en-US" sz="4300" dirty="0">
                <a:latin typeface="Avenir Black" panose="02000503020000020003" pitchFamily="2" charset="0"/>
              </a:rPr>
              <a:t> </a:t>
            </a:r>
            <a:r>
              <a:rPr lang="en-US" sz="4300" dirty="0" err="1">
                <a:latin typeface="Avenir Black" panose="02000503020000020003" pitchFamily="2" charset="0"/>
              </a:rPr>
              <a:t>en</a:t>
            </a:r>
            <a:r>
              <a:rPr lang="en-US" sz="4300" dirty="0">
                <a:latin typeface="Avenir Black" panose="02000503020000020003" pitchFamily="2" charset="0"/>
              </a:rPr>
              <a:t> </a:t>
            </a:r>
            <a:r>
              <a:rPr lang="en-US" sz="4300" dirty="0" err="1">
                <a:latin typeface="Avenir Black" panose="02000503020000020003" pitchFamily="2" charset="0"/>
              </a:rPr>
              <a:t>el</a:t>
            </a:r>
            <a:r>
              <a:rPr lang="en-US" sz="4300" dirty="0">
                <a:latin typeface="Avenir Black" panose="02000503020000020003" pitchFamily="2" charset="0"/>
              </a:rPr>
              <a:t> </a:t>
            </a:r>
            <a:r>
              <a:rPr lang="en-US" sz="4300" dirty="0" err="1">
                <a:latin typeface="Avenir Black" panose="02000503020000020003" pitchFamily="2" charset="0"/>
              </a:rPr>
              <a:t>tiempo</a:t>
            </a:r>
            <a:r>
              <a:rPr lang="en-US" sz="4300" dirty="0">
                <a:latin typeface="Avenir Black" panose="02000503020000020003" pitchFamily="2" charset="0"/>
              </a:rPr>
              <a:t> (</a:t>
            </a:r>
            <a:r>
              <a:rPr lang="en-US" sz="4300" dirty="0" err="1">
                <a:latin typeface="Avenir Black" panose="02000503020000020003" pitchFamily="2" charset="0"/>
              </a:rPr>
              <a:t>Volatilidad</a:t>
            </a:r>
            <a:r>
              <a:rPr lang="en-US" sz="4300" dirty="0">
                <a:latin typeface="Avenir Black" panose="02000503020000020003" pitchFamily="2" charset="0"/>
              </a:rPr>
              <a:t>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324152"/>
              </p:ext>
            </p:extLst>
          </p:nvPr>
        </p:nvGraphicFramePr>
        <p:xfrm>
          <a:off x="290286" y="1690688"/>
          <a:ext cx="11756571" cy="46050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6749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300" b="1" dirty="0" err="1">
                <a:latin typeface="Avenir Black" panose="02000503020000020003" pitchFamily="2" charset="0"/>
              </a:rPr>
              <a:t>Evolución</a:t>
            </a:r>
            <a:r>
              <a:rPr lang="en-US" sz="4300" b="1" dirty="0">
                <a:latin typeface="Avenir Black" panose="02000503020000020003" pitchFamily="2" charset="0"/>
              </a:rPr>
              <a:t> de </a:t>
            </a:r>
            <a:r>
              <a:rPr lang="en-US" sz="4300" b="1" dirty="0" err="1">
                <a:latin typeface="Avenir Black" panose="02000503020000020003" pitchFamily="2" charset="0"/>
              </a:rPr>
              <a:t>Volatilidad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en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el</a:t>
            </a:r>
            <a:r>
              <a:rPr lang="en-US" sz="4300" b="1" dirty="0">
                <a:latin typeface="Avenir Black" panose="02000503020000020003" pitchFamily="2" charset="0"/>
              </a:rPr>
              <a:t> Tiempo (1)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99621"/>
              </p:ext>
            </p:extLst>
          </p:nvPr>
        </p:nvGraphicFramePr>
        <p:xfrm>
          <a:off x="838200" y="2062062"/>
          <a:ext cx="10512548" cy="4307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5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5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5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1949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 err="1">
                          <a:latin typeface="Avenir Medium" panose="02000503020000020003" pitchFamily="2" charset="0"/>
                          <a:cs typeface="Al Nile" pitchFamily="2" charset="-78"/>
                        </a:rPr>
                        <a:t>Fecha</a:t>
                      </a:r>
                      <a:endParaRPr lang="en-US" sz="1600" b="0" i="0" dirty="0">
                        <a:latin typeface="Avenir Medium" panose="02000503020000020003" pitchFamily="2" charset="0"/>
                        <a:cs typeface="Al Nile" pitchFamily="2" charset="-78"/>
                      </a:endParaRPr>
                    </a:p>
                  </a:txBody>
                  <a:tcPr marL="84158" marR="84158" marT="42079" marB="4207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>
                          <a:latin typeface="Avenir Medium" panose="02000503020000020003" pitchFamily="2" charset="0"/>
                          <a:cs typeface="Al Nile" pitchFamily="2" charset="-78"/>
                        </a:rPr>
                        <a:t>Chevrolet -    Spin</a:t>
                      </a:r>
                    </a:p>
                  </a:txBody>
                  <a:tcPr marL="84158" marR="84158" marT="42079" marB="4207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>
                          <a:latin typeface="Avenir Medium" panose="02000503020000020003" pitchFamily="2" charset="0"/>
                          <a:cs typeface="Al Nile" pitchFamily="2" charset="-78"/>
                        </a:rPr>
                        <a:t>Chevrolet - Silverado</a:t>
                      </a:r>
                    </a:p>
                  </a:txBody>
                  <a:tcPr marL="84158" marR="84158" marT="42079" marB="4207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>
                          <a:latin typeface="Avenir Medium" panose="02000503020000020003" pitchFamily="2" charset="0"/>
                          <a:cs typeface="Al Nile" pitchFamily="2" charset="-78"/>
                        </a:rPr>
                        <a:t>Chevrolet - Tracker</a:t>
                      </a:r>
                    </a:p>
                  </a:txBody>
                  <a:tcPr marL="84158" marR="84158" marT="42079" marB="4207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>
                          <a:latin typeface="Avenir Medium" panose="02000503020000020003" pitchFamily="2" charset="0"/>
                          <a:cs typeface="Al Nile" pitchFamily="2" charset="-78"/>
                        </a:rPr>
                        <a:t>Chevrolet -   Onix</a:t>
                      </a:r>
                    </a:p>
                  </a:txBody>
                  <a:tcPr marL="84158" marR="84158" marT="42079" marB="4207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>
                          <a:latin typeface="Avenir Medium" panose="02000503020000020003" pitchFamily="2" charset="0"/>
                          <a:cs typeface="Al Nile" pitchFamily="2" charset="-78"/>
                        </a:rPr>
                        <a:t>Chevrolet - Camaro</a:t>
                      </a:r>
                    </a:p>
                  </a:txBody>
                  <a:tcPr marL="84158" marR="84158" marT="42079" marB="42079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2023-02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-0.00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2023-03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0.10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0.02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2023-04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0.12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-0.07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0.07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0.09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2023-06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-0.05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0.14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-0.10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-0.00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2023-07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-0.01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-0.01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2023-08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-0.10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-0.11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2023-09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-0.00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0.10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2023-10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0.12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0.14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0.18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-0.04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2023-11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-0.07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2023-12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-0.07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0.04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2024-01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0.06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-0.07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0.09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2024-02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-0.11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0.02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2024-03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0.04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0.11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-0.07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0.03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2024-04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0.15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-0.05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0.11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  <a:cs typeface="Al Nile" pitchFamily="2" charset="-78"/>
                        </a:rPr>
                        <a:t>0.00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  <a:cs typeface="Al Nile" pitchFamily="2" charset="-78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523926"/>
              </p:ext>
            </p:extLst>
          </p:nvPr>
        </p:nvGraphicFramePr>
        <p:xfrm>
          <a:off x="838200" y="2062063"/>
          <a:ext cx="10512548" cy="4307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5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5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5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1949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 err="1">
                          <a:latin typeface="Avenir Medium" panose="02000503020000020003" pitchFamily="2" charset="0"/>
                        </a:rPr>
                        <a:t>Fecha</a:t>
                      </a:r>
                      <a:endParaRPr lang="en-US" sz="1600" b="0" i="0" dirty="0">
                        <a:latin typeface="Avenir Medium" panose="02000503020000020003" pitchFamily="2" charset="0"/>
                      </a:endParaRPr>
                    </a:p>
                  </a:txBody>
                  <a:tcPr marL="84158" marR="84158" marT="42079" marB="4207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>
                          <a:latin typeface="Avenir Medium" panose="02000503020000020003" pitchFamily="2" charset="0"/>
                        </a:rPr>
                        <a:t>Chevrolet -    Spin</a:t>
                      </a:r>
                    </a:p>
                  </a:txBody>
                  <a:tcPr marL="84158" marR="84158" marT="42079" marB="4207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>
                          <a:latin typeface="Avenir Medium" panose="02000503020000020003" pitchFamily="2" charset="0"/>
                        </a:rPr>
                        <a:t>Chevrolet - Silverado</a:t>
                      </a:r>
                    </a:p>
                  </a:txBody>
                  <a:tcPr marL="84158" marR="84158" marT="42079" marB="4207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>
                          <a:latin typeface="Avenir Medium" panose="02000503020000020003" pitchFamily="2" charset="0"/>
                        </a:rPr>
                        <a:t>Chevrolet - Tracker</a:t>
                      </a:r>
                    </a:p>
                  </a:txBody>
                  <a:tcPr marL="84158" marR="84158" marT="42079" marB="4207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>
                          <a:latin typeface="Avenir Medium" panose="02000503020000020003" pitchFamily="2" charset="0"/>
                        </a:rPr>
                        <a:t>Chevrolet -    Onix</a:t>
                      </a:r>
                    </a:p>
                  </a:txBody>
                  <a:tcPr marL="84158" marR="84158" marT="42079" marB="4207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>
                          <a:latin typeface="Avenir Medium" panose="02000503020000020003" pitchFamily="2" charset="0"/>
                        </a:rPr>
                        <a:t>Chevrolet - Camaro</a:t>
                      </a:r>
                    </a:p>
                  </a:txBody>
                  <a:tcPr marL="84158" marR="84158" marT="42079" marB="42079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2024-05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-0.07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2024-06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0.01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-0.10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2024-07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0.05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0.04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0.07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2024-08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-0.09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0.00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0.01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2024-09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0.09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0.01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2024-10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0.05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0.02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2024-11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-0.02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0.00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-0.03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0.03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2024-12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-0.04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-0.05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2025-01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0.01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0.10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-0.06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2025-02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0.05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2025-03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0.04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-0.03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-0.03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2025-04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-0.03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0.04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-0.05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2025-05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-0.02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0.01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0.02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95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2025-06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-0.05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0.08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>
                          <a:latin typeface="Avenir Light" panose="020B0402020203020204" pitchFamily="34" charset="77"/>
                        </a:rPr>
                        <a:t>0.11</a:t>
                      </a:r>
                    </a:p>
                  </a:txBody>
                  <a:tcPr marL="84158" marR="84158" marT="42079" marB="42079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000" b="0" i="0" dirty="0">
                          <a:latin typeface="Avenir Light" panose="020B0402020203020204" pitchFamily="34" charset="77"/>
                        </a:rPr>
                        <a:t>0.06</a:t>
                      </a:r>
                    </a:p>
                  </a:txBody>
                  <a:tcPr marL="84158" marR="84158" marT="42079" marB="42079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5E2E62AD-EAFE-8735-73A5-37B4CDF36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749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300" b="1" dirty="0" err="1">
                <a:latin typeface="Avenir Black" panose="02000503020000020003" pitchFamily="2" charset="0"/>
              </a:rPr>
              <a:t>Evolución</a:t>
            </a:r>
            <a:r>
              <a:rPr lang="en-US" sz="4300" b="1" dirty="0">
                <a:latin typeface="Avenir Black" panose="02000503020000020003" pitchFamily="2" charset="0"/>
              </a:rPr>
              <a:t> de </a:t>
            </a:r>
            <a:r>
              <a:rPr lang="en-US" sz="4300" b="1" dirty="0" err="1">
                <a:latin typeface="Avenir Black" panose="02000503020000020003" pitchFamily="2" charset="0"/>
              </a:rPr>
              <a:t>Volatilidad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en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el</a:t>
            </a:r>
            <a:r>
              <a:rPr lang="en-US" sz="4300" b="1" dirty="0">
                <a:latin typeface="Avenir Black" panose="02000503020000020003" pitchFamily="2" charset="0"/>
              </a:rPr>
              <a:t> Tiempo (2)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490943"/>
              </p:ext>
            </p:extLst>
          </p:nvPr>
        </p:nvGraphicFramePr>
        <p:xfrm>
          <a:off x="838200" y="2053933"/>
          <a:ext cx="10512552" cy="2396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27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27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27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7667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 err="1">
                          <a:latin typeface="Avenir Medium" panose="02000503020000020003" pitchFamily="2" charset="0"/>
                        </a:rPr>
                        <a:t>Fecha</a:t>
                      </a:r>
                      <a:endParaRPr lang="en-US" sz="1600" b="0" i="0" dirty="0">
                        <a:latin typeface="Avenir Medium" panose="02000503020000020003" pitchFamily="2" charset="0"/>
                      </a:endParaRPr>
                    </a:p>
                  </a:txBody>
                  <a:tcPr marL="116200" marR="116200" marT="58101" marB="58101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>
                          <a:latin typeface="Avenir Medium" panose="02000503020000020003" pitchFamily="2" charset="0"/>
                        </a:rPr>
                        <a:t>Chevrolet -     Spin</a:t>
                      </a:r>
                    </a:p>
                  </a:txBody>
                  <a:tcPr marL="116200" marR="116200" marT="58101" marB="58101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>
                          <a:latin typeface="Avenir Medium" panose="02000503020000020003" pitchFamily="2" charset="0"/>
                        </a:rPr>
                        <a:t>Chevrolet - Silverado</a:t>
                      </a:r>
                    </a:p>
                  </a:txBody>
                  <a:tcPr marL="116200" marR="116200" marT="58101" marB="58101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>
                          <a:latin typeface="Avenir Medium" panose="02000503020000020003" pitchFamily="2" charset="0"/>
                        </a:rPr>
                        <a:t>Chevrolet - Tracker</a:t>
                      </a:r>
                    </a:p>
                  </a:txBody>
                  <a:tcPr marL="116200" marR="116200" marT="58101" marB="58101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>
                          <a:latin typeface="Avenir Medium" panose="02000503020000020003" pitchFamily="2" charset="0"/>
                        </a:rPr>
                        <a:t>Chevrolet -    Onix</a:t>
                      </a:r>
                    </a:p>
                  </a:txBody>
                  <a:tcPr marL="116200" marR="116200" marT="58101" marB="58101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b="0" i="0" dirty="0">
                          <a:latin typeface="Avenir Medium" panose="02000503020000020003" pitchFamily="2" charset="0"/>
                        </a:rPr>
                        <a:t>Chevrolet - Camaro</a:t>
                      </a:r>
                    </a:p>
                  </a:txBody>
                  <a:tcPr marL="116200" marR="116200" marT="58101" marB="58101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58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 dirty="0">
                          <a:latin typeface="Avenir Light" panose="020B0402020203020204" pitchFamily="34" charset="77"/>
                        </a:rPr>
                        <a:t>2025-07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0.01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 dirty="0">
                          <a:latin typeface="Avenir Light" panose="020B0402020203020204" pitchFamily="34" charset="77"/>
                        </a:rPr>
                        <a:t>-0.04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-0.02</a:t>
                      </a:r>
                    </a:p>
                  </a:txBody>
                  <a:tcPr marL="116200" marR="116200" marT="58101" marB="581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58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2025-09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0.10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116200" marR="116200" marT="58101" marB="581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58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2025-10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 dirty="0">
                          <a:latin typeface="Avenir Light" panose="020B0402020203020204" pitchFamily="34" charset="77"/>
                        </a:rPr>
                        <a:t>-0.03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-0.06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116200" marR="116200" marT="58101" marB="581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58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2025-11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 dirty="0">
                          <a:latin typeface="Avenir Light" panose="020B0402020203020204" pitchFamily="34" charset="77"/>
                        </a:rPr>
                        <a:t>0.04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0.06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-0.03</a:t>
                      </a:r>
                    </a:p>
                  </a:txBody>
                  <a:tcPr marL="116200" marR="116200" marT="58101" marB="581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58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2025-12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>
                          <a:latin typeface="Avenir Light" panose="020B0402020203020204" pitchFamily="34" charset="77"/>
                        </a:rPr>
                        <a:t>-0.01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 dirty="0">
                          <a:latin typeface="Avenir Light" panose="020B0402020203020204" pitchFamily="34" charset="77"/>
                        </a:rPr>
                        <a:t>-0.01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 dirty="0">
                          <a:latin typeface="Avenir Light" panose="020B0402020203020204" pitchFamily="34" charset="77"/>
                        </a:rPr>
                        <a:t>-0.12</a:t>
                      </a:r>
                    </a:p>
                  </a:txBody>
                  <a:tcPr marL="116200" marR="116200" marT="58101" marB="58101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sz="1300" b="0" i="0" dirty="0">
                          <a:latin typeface="Avenir Light" panose="020B0402020203020204" pitchFamily="34" charset="77"/>
                        </a:rPr>
                        <a:t>0</a:t>
                      </a:r>
                    </a:p>
                  </a:txBody>
                  <a:tcPr marL="116200" marR="116200" marT="58101" marB="581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1570E520-A876-2845-D8B4-F09599C9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749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300" b="1" dirty="0" err="1">
                <a:latin typeface="Avenir Black" panose="02000503020000020003" pitchFamily="2" charset="0"/>
              </a:rPr>
              <a:t>Evolución</a:t>
            </a:r>
            <a:r>
              <a:rPr lang="en-US" sz="4300" b="1" dirty="0">
                <a:latin typeface="Avenir Black" panose="02000503020000020003" pitchFamily="2" charset="0"/>
              </a:rPr>
              <a:t> de </a:t>
            </a:r>
            <a:r>
              <a:rPr lang="en-US" sz="4300" b="1" dirty="0" err="1">
                <a:latin typeface="Avenir Black" panose="02000503020000020003" pitchFamily="2" charset="0"/>
              </a:rPr>
              <a:t>Volatilidad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en</a:t>
            </a:r>
            <a:r>
              <a:rPr lang="en-US" sz="4300" b="1" dirty="0">
                <a:latin typeface="Avenir Black" panose="02000503020000020003" pitchFamily="2" charset="0"/>
              </a:rPr>
              <a:t> </a:t>
            </a:r>
            <a:r>
              <a:rPr lang="en-US" sz="4300" b="1" dirty="0" err="1">
                <a:latin typeface="Avenir Black" panose="02000503020000020003" pitchFamily="2" charset="0"/>
              </a:rPr>
              <a:t>el</a:t>
            </a:r>
            <a:r>
              <a:rPr lang="en-US" sz="4300" b="1" dirty="0">
                <a:latin typeface="Avenir Black" panose="02000503020000020003" pitchFamily="2" charset="0"/>
              </a:rPr>
              <a:t> Tiempo (3)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BEE0D6B0-9C87-3943-AF48-3182240BADF9}"/>
              </a:ext>
            </a:extLst>
          </p:cNvPr>
          <p:cNvGrpSpPr/>
          <p:nvPr/>
        </p:nvGrpSpPr>
        <p:grpSpPr>
          <a:xfrm>
            <a:off x="2770909" y="1077191"/>
            <a:ext cx="6650182" cy="4779818"/>
            <a:chOff x="2770909" y="1077191"/>
            <a:chExt cx="6650182" cy="4779818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AEBCA400-F0B1-02F4-4A8B-5431B88F1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31" t="20703" r="16016" b="34198"/>
            <a:stretch>
              <a:fillRect/>
            </a:stretch>
          </p:blipFill>
          <p:spPr>
            <a:xfrm>
              <a:off x="2770909" y="1077191"/>
              <a:ext cx="6650182" cy="4779818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B8CA397D-6CCF-B6E4-2797-D1F0C7D07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04021" y="5054854"/>
              <a:ext cx="568579" cy="5839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4006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egro monocromátic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Art Copilot_win32_v2" id="{C4441793-7F42-4E6F-AB6E-2BF31AF6ECEE}" vid="{417A8EDD-AC54-49AE-B230-98EE57C802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584</Words>
  <Application>Microsoft Office PowerPoint</Application>
  <PresentationFormat>Panorámica</PresentationFormat>
  <Paragraphs>351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20</vt:i4>
      </vt:variant>
    </vt:vector>
  </HeadingPairs>
  <TitlesOfParts>
    <vt:vector size="29" baseType="lpstr">
      <vt:lpstr>Aptos</vt:lpstr>
      <vt:lpstr>Arial</vt:lpstr>
      <vt:lpstr>Avenir Black</vt:lpstr>
      <vt:lpstr>Avenir Book</vt:lpstr>
      <vt:lpstr>Avenir Light</vt:lpstr>
      <vt:lpstr>Avenir Medium</vt:lpstr>
      <vt:lpstr>Calibri</vt:lpstr>
      <vt:lpstr>Office Theme</vt:lpstr>
      <vt:lpstr>Negro monocromático</vt:lpstr>
      <vt:lpstr>Presentación de PowerPoint</vt:lpstr>
      <vt:lpstr>Reporte General</vt:lpstr>
      <vt:lpstr>Resumen Ejecutivo</vt:lpstr>
      <vt:lpstr>Composición de Versiones por Segmento</vt:lpstr>
      <vt:lpstr>Composición de Versiones por Segmento (Detalle)</vt:lpstr>
      <vt:lpstr>Precios por Segmento</vt:lpstr>
      <vt:lpstr>Precios por Segmento</vt:lpstr>
      <vt:lpstr>Estructura de Precios por         Segmento &amp; Marca</vt:lpstr>
      <vt:lpstr>Estructura de Precios por        Segmento &amp; Marca</vt:lpstr>
      <vt:lpstr>Matriz Precio vs Volumen</vt:lpstr>
      <vt:lpstr>Matriz Precio vs Volumen</vt:lpstr>
      <vt:lpstr>Benchmarking de Precios por Marca</vt:lpstr>
      <vt:lpstr>Benchmarking de Precios por Marca</vt:lpstr>
      <vt:lpstr>Tendencia de Precios Global                (% Acumulado)</vt:lpstr>
      <vt:lpstr>Tendencia de Precios Global                 (% Acumulado)</vt:lpstr>
      <vt:lpstr>Variaciones de precios en el tiempo (Volatilidad)</vt:lpstr>
      <vt:lpstr>Evolución de Volatilidad en el Tiempo (1)</vt:lpstr>
      <vt:lpstr>Evolución de Volatilidad en el Tiempo (2)</vt:lpstr>
      <vt:lpstr>Evolución de Volatilidad en el Tiempo (3)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 GONZALEZ GUTIERREZ</cp:lastModifiedBy>
  <cp:revision>31</cp:revision>
  <cp:lastPrinted>2026-01-29T16:32:36Z</cp:lastPrinted>
  <dcterms:created xsi:type="dcterms:W3CDTF">2013-01-27T09:14:16Z</dcterms:created>
  <dcterms:modified xsi:type="dcterms:W3CDTF">2026-01-31T13:46:35Z</dcterms:modified>
  <cp:category/>
</cp:coreProperties>
</file>